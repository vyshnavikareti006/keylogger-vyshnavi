
<file path=[Content_Types].xml><?xml version="1.0" encoding="utf-8"?>
<Types xmlns="http://schemas.openxmlformats.org/package/2006/content-types">
  <Default ContentType="application/x-fontdata" Extension="fntdata"/>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Lst>
  <p:sldSz cx="18288000" cy="10287000"/>
  <p:notesSz cx="6858000" cy="9144000"/>
  <p:embeddedFontLst>
    <p:embeddedFont>
      <p:font typeface="Radley" charset="1" panose="00000500000000000000"/>
      <p:regular r:id="rId13"/>
    </p:embeddedFont>
    <p:embeddedFont>
      <p:font typeface="Carlito" charset="1" panose="020F0502020204030204"/>
      <p:regular r:id="rId14"/>
    </p:embeddedFont>
    <p:embeddedFont>
      <p:font typeface="Radley Italics" charset="1" panose="00000500000000000000"/>
      <p:regular r:id="rId15"/>
    </p:embeddedFont>
    <p:embeddedFont>
      <p:font typeface="Carlito Bold" charset="1" panose="020F0502020204030204"/>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fonts/font13.fntdata" Type="http://schemas.openxmlformats.org/officeDocument/2006/relationships/font"/><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4.jpeg" Type="http://schemas.openxmlformats.org/officeDocument/2006/relationships/image"/><Relationship Id="rId4" Target="../media/image5.jpeg" Type="http://schemas.openxmlformats.org/officeDocument/2006/relationships/image"/><Relationship Id="rId5" Target="../media/image6.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8.jpeg" Type="http://schemas.openxmlformats.org/officeDocument/2006/relationships/image"/><Relationship Id="rId4" Target="../media/image9.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11.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jpeg" Type="http://schemas.openxmlformats.org/officeDocument/2006/relationships/image"/><Relationship Id="rId3" Target="../media/image14.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A1A2E"/>
        </a:solidFill>
      </p:bgPr>
    </p:bg>
    <p:spTree>
      <p:nvGrpSpPr>
        <p:cNvPr id="1" name=""/>
        <p:cNvGrpSpPr/>
        <p:nvPr/>
      </p:nvGrpSpPr>
      <p:grpSpPr>
        <a:xfrm>
          <a:off x="0" y="0"/>
          <a:ext cx="0" cy="0"/>
          <a:chOff x="0" y="0"/>
          <a:chExt cx="0" cy="0"/>
        </a:xfrm>
      </p:grpSpPr>
      <p:grpSp>
        <p:nvGrpSpPr>
          <p:cNvPr name="Group 2" id="2"/>
          <p:cNvGrpSpPr/>
          <p:nvPr/>
        </p:nvGrpSpPr>
        <p:grpSpPr>
          <a:xfrm rot="0">
            <a:off x="4981575" y="3352800"/>
            <a:ext cx="8324850" cy="6934200"/>
            <a:chOff x="0" y="0"/>
            <a:chExt cx="1289737" cy="1074289"/>
          </a:xfrm>
        </p:grpSpPr>
        <p:sp>
          <p:nvSpPr>
            <p:cNvPr name="Freeform 3" id="3"/>
            <p:cNvSpPr/>
            <p:nvPr/>
          </p:nvSpPr>
          <p:spPr>
            <a:xfrm flipH="false" flipV="false" rot="0">
              <a:off x="0" y="0"/>
              <a:ext cx="1289737" cy="1074289"/>
            </a:xfrm>
            <a:custGeom>
              <a:avLst/>
              <a:gdLst/>
              <a:ahLst/>
              <a:cxnLst/>
              <a:rect r="r" b="b" t="t" l="l"/>
              <a:pathLst>
                <a:path h="1074289" w="1289737">
                  <a:moveTo>
                    <a:pt x="0" y="0"/>
                  </a:moveTo>
                  <a:lnTo>
                    <a:pt x="1289737" y="0"/>
                  </a:lnTo>
                  <a:lnTo>
                    <a:pt x="1289737" y="1074289"/>
                  </a:lnTo>
                  <a:lnTo>
                    <a:pt x="0" y="1074289"/>
                  </a:lnTo>
                  <a:close/>
                </a:path>
              </a:pathLst>
            </a:custGeom>
            <a:blipFill>
              <a:blip r:embed="rId2"/>
              <a:stretch>
                <a:fillRect l="-329" t="0" r="-329" b="0"/>
              </a:stretch>
            </a:blipFill>
          </p:spPr>
        </p:sp>
      </p:grpSp>
      <p:grpSp>
        <p:nvGrpSpPr>
          <p:cNvPr name="Group 4" id="4"/>
          <p:cNvGrpSpPr/>
          <p:nvPr/>
        </p:nvGrpSpPr>
        <p:grpSpPr>
          <a:xfrm rot="0">
            <a:off x="666750" y="666750"/>
            <a:ext cx="16954500" cy="2172955"/>
            <a:chOff x="0" y="0"/>
            <a:chExt cx="22606000" cy="2897274"/>
          </a:xfrm>
        </p:grpSpPr>
        <p:sp>
          <p:nvSpPr>
            <p:cNvPr name="AutoShape 5" id="5"/>
            <p:cNvSpPr/>
            <p:nvPr/>
          </p:nvSpPr>
          <p:spPr>
            <a:xfrm>
              <a:off x="0" y="2884574"/>
              <a:ext cx="22606000" cy="0"/>
            </a:xfrm>
            <a:prstGeom prst="line">
              <a:avLst/>
            </a:prstGeom>
            <a:ln cap="flat" w="25400">
              <a:solidFill>
                <a:srgbClr val="FFFFFF"/>
              </a:solidFill>
              <a:prstDash val="solid"/>
              <a:headEnd type="none" len="sm" w="sm"/>
              <a:tailEnd type="none" len="sm" w="sm"/>
            </a:ln>
          </p:spPr>
        </p:sp>
        <p:sp>
          <p:nvSpPr>
            <p:cNvPr name="TextBox 6" id="6"/>
            <p:cNvSpPr txBox="true"/>
            <p:nvPr/>
          </p:nvSpPr>
          <p:spPr>
            <a:xfrm rot="0">
              <a:off x="0" y="247650"/>
              <a:ext cx="22606000" cy="2315063"/>
            </a:xfrm>
            <a:prstGeom prst="rect">
              <a:avLst/>
            </a:prstGeom>
          </p:spPr>
          <p:txBody>
            <a:bodyPr anchor="t" rtlCol="false" tIns="0" lIns="0" bIns="0" rIns="0">
              <a:spAutoFit/>
            </a:bodyPr>
            <a:lstStyle/>
            <a:p>
              <a:pPr algn="ctr" marL="0" indent="0" lvl="0">
                <a:lnSpc>
                  <a:spcPts val="12670"/>
                </a:lnSpc>
              </a:pPr>
              <a:r>
                <a:rPr lang="en-US" sz="12670" spc="-253" u="none">
                  <a:solidFill>
                    <a:srgbClr val="FFFFFF"/>
                  </a:solidFill>
                  <a:latin typeface="Radley"/>
                  <a:ea typeface="Radley"/>
                  <a:cs typeface="Radley"/>
                  <a:sym typeface="Radley"/>
                </a:rPr>
                <a:t>Keylogger Detection Tool</a:t>
              </a:r>
            </a:p>
          </p:txBody>
        </p:sp>
      </p:grpSp>
      <p:sp>
        <p:nvSpPr>
          <p:cNvPr name="TextBox 7" id="7"/>
          <p:cNvSpPr txBox="true"/>
          <p:nvPr/>
        </p:nvSpPr>
        <p:spPr>
          <a:xfrm rot="0">
            <a:off x="13611225" y="9275446"/>
            <a:ext cx="4010025" cy="344804"/>
          </a:xfrm>
          <a:prstGeom prst="rect">
            <a:avLst/>
          </a:prstGeom>
        </p:spPr>
        <p:txBody>
          <a:bodyPr anchor="t" rtlCol="false" tIns="0" lIns="0" bIns="0" rIns="0">
            <a:spAutoFit/>
          </a:bodyPr>
          <a:lstStyle/>
          <a:p>
            <a:pPr algn="r" marL="0" indent="0" lvl="0">
              <a:lnSpc>
                <a:spcPts val="2520"/>
              </a:lnSpc>
              <a:spcBef>
                <a:spcPct val="0"/>
              </a:spcBef>
            </a:pPr>
            <a:r>
              <a:rPr lang="en-US" sz="1800" spc="239">
                <a:solidFill>
                  <a:srgbClr val="FFFFFF"/>
                </a:solidFill>
                <a:latin typeface="Carlito"/>
                <a:ea typeface="Carlito"/>
                <a:cs typeface="Carlito"/>
                <a:sym typeface="Carlito"/>
              </a:rPr>
              <a:t>CYBER SECURITY STUDENT</a:t>
            </a:r>
          </a:p>
        </p:txBody>
      </p:sp>
      <p:sp>
        <p:nvSpPr>
          <p:cNvPr name="TextBox 8" id="8"/>
          <p:cNvSpPr txBox="true"/>
          <p:nvPr/>
        </p:nvSpPr>
        <p:spPr>
          <a:xfrm rot="0">
            <a:off x="666750" y="9323705"/>
            <a:ext cx="4010025" cy="296545"/>
          </a:xfrm>
          <a:prstGeom prst="rect">
            <a:avLst/>
          </a:prstGeom>
        </p:spPr>
        <p:txBody>
          <a:bodyPr anchor="t" rtlCol="false" tIns="0" lIns="0" bIns="0" rIns="0">
            <a:spAutoFit/>
          </a:bodyPr>
          <a:lstStyle/>
          <a:p>
            <a:pPr algn="l" marL="0" indent="0" lvl="0">
              <a:lnSpc>
                <a:spcPts val="2299"/>
              </a:lnSpc>
            </a:pPr>
            <a:r>
              <a:rPr lang="en-US" sz="2299" i="true">
                <a:solidFill>
                  <a:srgbClr val="FFFFFF"/>
                </a:solidFill>
                <a:latin typeface="Radley Italics"/>
                <a:ea typeface="Radley Italics"/>
                <a:cs typeface="Radley Italics"/>
                <a:sym typeface="Radley Italics"/>
              </a:rPr>
              <a:t>Karishma Sk</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F3460"/>
        </a:solidFill>
      </p:bgPr>
    </p:bg>
    <p:spTree>
      <p:nvGrpSpPr>
        <p:cNvPr id="1" name=""/>
        <p:cNvGrpSpPr/>
        <p:nvPr/>
      </p:nvGrpSpPr>
      <p:grpSpPr>
        <a:xfrm>
          <a:off x="0" y="0"/>
          <a:ext cx="0" cy="0"/>
          <a:chOff x="0" y="0"/>
          <a:chExt cx="0" cy="0"/>
        </a:xfrm>
      </p:grpSpPr>
      <p:grpSp>
        <p:nvGrpSpPr>
          <p:cNvPr name="Group 2" id="2"/>
          <p:cNvGrpSpPr/>
          <p:nvPr/>
        </p:nvGrpSpPr>
        <p:grpSpPr>
          <a:xfrm rot="0">
            <a:off x="10429875" y="0"/>
            <a:ext cx="7858125" cy="10287000"/>
            <a:chOff x="0" y="0"/>
            <a:chExt cx="1217429" cy="1593725"/>
          </a:xfrm>
        </p:grpSpPr>
        <p:sp>
          <p:nvSpPr>
            <p:cNvPr name="Freeform 3" id="3"/>
            <p:cNvSpPr/>
            <p:nvPr/>
          </p:nvSpPr>
          <p:spPr>
            <a:xfrm flipH="false" flipV="false" rot="0">
              <a:off x="0" y="0"/>
              <a:ext cx="1217429" cy="1593725"/>
            </a:xfrm>
            <a:custGeom>
              <a:avLst/>
              <a:gdLst/>
              <a:ahLst/>
              <a:cxnLst/>
              <a:rect r="r" b="b" t="t" l="l"/>
              <a:pathLst>
                <a:path h="1593725" w="1217429">
                  <a:moveTo>
                    <a:pt x="0" y="0"/>
                  </a:moveTo>
                  <a:lnTo>
                    <a:pt x="1217429" y="0"/>
                  </a:lnTo>
                  <a:lnTo>
                    <a:pt x="1217429" y="1593725"/>
                  </a:lnTo>
                  <a:lnTo>
                    <a:pt x="0" y="1593725"/>
                  </a:lnTo>
                  <a:close/>
                </a:path>
              </a:pathLst>
            </a:custGeom>
            <a:blipFill>
              <a:blip r:embed="rId2"/>
              <a:stretch>
                <a:fillRect l="0" t="-255" r="0" b="-255"/>
              </a:stretch>
            </a:blipFill>
          </p:spPr>
        </p:sp>
      </p:grpSp>
      <p:grpSp>
        <p:nvGrpSpPr>
          <p:cNvPr name="Group 4" id="4"/>
          <p:cNvGrpSpPr/>
          <p:nvPr/>
        </p:nvGrpSpPr>
        <p:grpSpPr>
          <a:xfrm rot="0">
            <a:off x="666750" y="666755"/>
            <a:ext cx="7230865" cy="5857875"/>
            <a:chOff x="0" y="0"/>
            <a:chExt cx="9641153" cy="7810500"/>
          </a:xfrm>
        </p:grpSpPr>
        <p:sp>
          <p:nvSpPr>
            <p:cNvPr name="TextBox 5" id="5"/>
            <p:cNvSpPr txBox="true"/>
            <p:nvPr/>
          </p:nvSpPr>
          <p:spPr>
            <a:xfrm rot="0">
              <a:off x="26326" y="57150"/>
              <a:ext cx="9614826" cy="2679279"/>
            </a:xfrm>
            <a:prstGeom prst="rect">
              <a:avLst/>
            </a:prstGeom>
          </p:spPr>
          <p:txBody>
            <a:bodyPr anchor="t" rtlCol="false" tIns="0" lIns="0" bIns="0" rIns="0">
              <a:spAutoFit/>
            </a:bodyPr>
            <a:lstStyle/>
            <a:p>
              <a:pPr algn="l" marL="0" indent="0" lvl="0">
                <a:lnSpc>
                  <a:spcPts val="7840"/>
                </a:lnSpc>
                <a:spcBef>
                  <a:spcPct val="0"/>
                </a:spcBef>
              </a:pPr>
              <a:r>
                <a:rPr lang="en-US" sz="7000" i="true">
                  <a:solidFill>
                    <a:srgbClr val="FFFFFF"/>
                  </a:solidFill>
                  <a:latin typeface="Radley Italics"/>
                  <a:ea typeface="Radley Italics"/>
                  <a:cs typeface="Radley Italics"/>
                  <a:sym typeface="Radley Italics"/>
                </a:rPr>
                <a:t>Cyber Security Threats</a:t>
              </a:r>
            </a:p>
          </p:txBody>
        </p:sp>
        <p:sp>
          <p:nvSpPr>
            <p:cNvPr name="TextBox 6" id="6"/>
            <p:cNvSpPr txBox="true"/>
            <p:nvPr/>
          </p:nvSpPr>
          <p:spPr>
            <a:xfrm rot="0">
              <a:off x="26326" y="3708400"/>
              <a:ext cx="9614826" cy="1397000"/>
            </a:xfrm>
            <a:prstGeom prst="rect">
              <a:avLst/>
            </a:prstGeom>
          </p:spPr>
          <p:txBody>
            <a:bodyPr anchor="t" rtlCol="false" tIns="0" lIns="0" bIns="0" rIns="0">
              <a:spAutoFit/>
            </a:bodyPr>
            <a:lstStyle/>
            <a:p>
              <a:pPr algn="l" marL="0" indent="0" lvl="0">
                <a:lnSpc>
                  <a:spcPts val="4199"/>
                </a:lnSpc>
                <a:spcBef>
                  <a:spcPct val="0"/>
                </a:spcBef>
              </a:pPr>
              <a:r>
                <a:rPr lang="en-US" sz="3499" u="none">
                  <a:solidFill>
                    <a:srgbClr val="FFFFFF"/>
                  </a:solidFill>
                  <a:latin typeface="Radley"/>
                  <a:ea typeface="Radley"/>
                  <a:cs typeface="Radley"/>
                  <a:sym typeface="Radley"/>
                </a:rPr>
                <a:t>Understanding keyloggers as a significant cyber security risk today</a:t>
              </a:r>
            </a:p>
          </p:txBody>
        </p:sp>
        <p:sp>
          <p:nvSpPr>
            <p:cNvPr name="AutoShape 7" id="7"/>
            <p:cNvSpPr/>
            <p:nvPr/>
          </p:nvSpPr>
          <p:spPr>
            <a:xfrm>
              <a:off x="0" y="3222414"/>
              <a:ext cx="9614826" cy="0"/>
            </a:xfrm>
            <a:prstGeom prst="line">
              <a:avLst/>
            </a:prstGeom>
            <a:ln cap="flat" w="25400">
              <a:solidFill>
                <a:srgbClr val="FFFFFF"/>
              </a:solidFill>
              <a:prstDash val="solid"/>
              <a:headEnd type="none" len="sm" w="sm"/>
              <a:tailEnd type="none" len="sm" w="sm"/>
            </a:ln>
          </p:spPr>
        </p:sp>
        <p:sp>
          <p:nvSpPr>
            <p:cNvPr name="TextBox 8" id="8"/>
            <p:cNvSpPr txBox="true"/>
            <p:nvPr/>
          </p:nvSpPr>
          <p:spPr>
            <a:xfrm rot="0">
              <a:off x="26326" y="5740400"/>
              <a:ext cx="9588500" cy="2070100"/>
            </a:xfrm>
            <a:prstGeom prst="rect">
              <a:avLst/>
            </a:prstGeom>
          </p:spPr>
          <p:txBody>
            <a:bodyPr anchor="t" rtlCol="false" tIns="0" lIns="0" bIns="0" rIns="0">
              <a:spAutoFit/>
            </a:bodyPr>
            <a:lstStyle/>
            <a:p>
              <a:pPr algn="l" marL="0" indent="0" lvl="0">
                <a:lnSpc>
                  <a:spcPts val="2400"/>
                </a:lnSpc>
              </a:pPr>
              <a:r>
                <a:rPr lang="en-US" sz="2000">
                  <a:solidFill>
                    <a:srgbClr val="FFFFFF"/>
                  </a:solidFill>
                  <a:latin typeface="Carlito"/>
                  <a:ea typeface="Carlito"/>
                  <a:cs typeface="Carlito"/>
                  <a:sym typeface="Carlito"/>
                </a:rPr>
                <a:t>As cyber security threats escalate globally, it's crucial to recognize the dangers posed by </a:t>
              </a:r>
              <a:r>
                <a:rPr lang="en-US" b="true" sz="2000">
                  <a:solidFill>
                    <a:srgbClr val="FFFFFF"/>
                  </a:solidFill>
                  <a:latin typeface="Carlito Bold"/>
                  <a:ea typeface="Carlito Bold"/>
                  <a:cs typeface="Carlito Bold"/>
                  <a:sym typeface="Carlito Bold"/>
                </a:rPr>
                <a:t>keyloggers</a:t>
              </a:r>
              <a:r>
                <a:rPr lang="en-US" sz="2000">
                  <a:solidFill>
                    <a:srgbClr val="FFFFFF"/>
                  </a:solidFill>
                  <a:latin typeface="Carlito"/>
                  <a:ea typeface="Carlito"/>
                  <a:cs typeface="Carlito"/>
                  <a:sym typeface="Carlito"/>
                </a:rPr>
                <a:t>. These malicious programs silently record keystrokes, enabling attackers to steal sensitive information, such as passwords and personal data. Detecting these threats is vital in maintaining system security and safeguarding user information.</a:t>
              </a:r>
            </a:p>
          </p:txBody>
        </p:sp>
      </p:grpSp>
      <p:grpSp>
        <p:nvGrpSpPr>
          <p:cNvPr name="Group 9" id="9"/>
          <p:cNvGrpSpPr/>
          <p:nvPr/>
        </p:nvGrpSpPr>
        <p:grpSpPr>
          <a:xfrm rot="0">
            <a:off x="666750" y="9184102"/>
            <a:ext cx="2171730" cy="2205796"/>
            <a:chOff x="0" y="0"/>
            <a:chExt cx="812800" cy="825500"/>
          </a:xfrm>
        </p:grpSpPr>
        <p:sp>
          <p:nvSpPr>
            <p:cNvPr name="Freeform 10" id="10"/>
            <p:cNvSpPr/>
            <p:nvPr/>
          </p:nvSpPr>
          <p:spPr>
            <a:xfrm flipH="false" flipV="false" rot="0">
              <a:off x="1270" y="0"/>
              <a:ext cx="810260" cy="822960"/>
            </a:xfrm>
            <a:custGeom>
              <a:avLst/>
              <a:gdLst/>
              <a:ahLst/>
              <a:cxnLst/>
              <a:rect r="r" b="b" t="t" l="l"/>
              <a:pathLst>
                <a:path h="822960" w="810260">
                  <a:moveTo>
                    <a:pt x="405130" y="0"/>
                  </a:moveTo>
                  <a:lnTo>
                    <a:pt x="450850" y="151130"/>
                  </a:lnTo>
                  <a:lnTo>
                    <a:pt x="546100" y="25400"/>
                  </a:lnTo>
                  <a:lnTo>
                    <a:pt x="537210" y="181610"/>
                  </a:lnTo>
                  <a:lnTo>
                    <a:pt x="669290" y="96520"/>
                  </a:lnTo>
                  <a:lnTo>
                    <a:pt x="608330" y="241300"/>
                  </a:lnTo>
                  <a:lnTo>
                    <a:pt x="760730" y="205740"/>
                  </a:lnTo>
                  <a:lnTo>
                    <a:pt x="654050" y="321310"/>
                  </a:lnTo>
                  <a:lnTo>
                    <a:pt x="810260" y="340360"/>
                  </a:lnTo>
                  <a:lnTo>
                    <a:pt x="669290" y="411480"/>
                  </a:lnTo>
                  <a:lnTo>
                    <a:pt x="810260" y="482600"/>
                  </a:lnTo>
                  <a:lnTo>
                    <a:pt x="654050" y="501650"/>
                  </a:lnTo>
                  <a:lnTo>
                    <a:pt x="760730" y="617220"/>
                  </a:lnTo>
                  <a:lnTo>
                    <a:pt x="608330" y="581660"/>
                  </a:lnTo>
                  <a:lnTo>
                    <a:pt x="669290" y="726440"/>
                  </a:lnTo>
                  <a:lnTo>
                    <a:pt x="537210" y="640080"/>
                  </a:lnTo>
                  <a:lnTo>
                    <a:pt x="546100" y="797560"/>
                  </a:lnTo>
                  <a:lnTo>
                    <a:pt x="450850" y="671830"/>
                  </a:lnTo>
                  <a:lnTo>
                    <a:pt x="405130" y="822960"/>
                  </a:lnTo>
                  <a:lnTo>
                    <a:pt x="359410" y="671830"/>
                  </a:lnTo>
                  <a:lnTo>
                    <a:pt x="264160" y="797560"/>
                  </a:lnTo>
                  <a:lnTo>
                    <a:pt x="273050" y="640080"/>
                  </a:lnTo>
                  <a:lnTo>
                    <a:pt x="140970" y="726440"/>
                  </a:lnTo>
                  <a:lnTo>
                    <a:pt x="201930" y="581660"/>
                  </a:lnTo>
                  <a:lnTo>
                    <a:pt x="49530" y="617220"/>
                  </a:lnTo>
                  <a:lnTo>
                    <a:pt x="156210" y="501650"/>
                  </a:lnTo>
                  <a:lnTo>
                    <a:pt x="0" y="482600"/>
                  </a:lnTo>
                  <a:lnTo>
                    <a:pt x="140970" y="411480"/>
                  </a:lnTo>
                  <a:lnTo>
                    <a:pt x="0" y="340360"/>
                  </a:lnTo>
                  <a:lnTo>
                    <a:pt x="156210" y="321310"/>
                  </a:lnTo>
                  <a:lnTo>
                    <a:pt x="49530" y="205740"/>
                  </a:lnTo>
                  <a:lnTo>
                    <a:pt x="201930" y="241300"/>
                  </a:lnTo>
                  <a:lnTo>
                    <a:pt x="140970" y="96520"/>
                  </a:lnTo>
                  <a:lnTo>
                    <a:pt x="273050" y="181610"/>
                  </a:lnTo>
                  <a:lnTo>
                    <a:pt x="264160" y="25400"/>
                  </a:lnTo>
                  <a:lnTo>
                    <a:pt x="359410" y="151130"/>
                  </a:lnTo>
                  <a:close/>
                </a:path>
              </a:pathLst>
            </a:custGeom>
            <a:solidFill>
              <a:srgbClr val="FFFFFF"/>
            </a:solidFill>
          </p:spPr>
        </p:sp>
        <p:sp>
          <p:nvSpPr>
            <p:cNvPr name="TextBox 11" id="11"/>
            <p:cNvSpPr txBox="true"/>
            <p:nvPr/>
          </p:nvSpPr>
          <p:spPr>
            <a:xfrm>
              <a:off x="141746" y="112576"/>
              <a:ext cx="529308" cy="559367"/>
            </a:xfrm>
            <a:prstGeom prst="rect">
              <a:avLst/>
            </a:prstGeom>
          </p:spPr>
          <p:txBody>
            <a:bodyPr anchor="ctr" rtlCol="false" tIns="50800" lIns="50800" bIns="50800" rIns="50800"/>
            <a:lstStyle/>
            <a:p>
              <a:pPr algn="ctr" marL="0" indent="0" lvl="0">
                <a:lnSpc>
                  <a:spcPts val="3359"/>
                </a:lnSpc>
                <a:spcBef>
                  <a:spcPct val="0"/>
                </a:spcBef>
              </a:pP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53354A"/>
        </a:solidFill>
      </p:bgPr>
    </p:bg>
    <p:spTree>
      <p:nvGrpSpPr>
        <p:cNvPr id="1" name=""/>
        <p:cNvGrpSpPr/>
        <p:nvPr/>
      </p:nvGrpSpPr>
      <p:grpSpPr>
        <a:xfrm>
          <a:off x="0" y="0"/>
          <a:ext cx="0" cy="0"/>
          <a:chOff x="0" y="0"/>
          <a:chExt cx="0" cy="0"/>
        </a:xfrm>
      </p:grpSpPr>
      <p:sp>
        <p:nvSpPr>
          <p:cNvPr name="TextBox 2" id="2"/>
          <p:cNvSpPr txBox="true"/>
          <p:nvPr/>
        </p:nvSpPr>
        <p:spPr>
          <a:xfrm rot="0">
            <a:off x="666750" y="723900"/>
            <a:ext cx="16954500" cy="1004572"/>
          </a:xfrm>
          <a:prstGeom prst="rect">
            <a:avLst/>
          </a:prstGeom>
        </p:spPr>
        <p:txBody>
          <a:bodyPr anchor="t" rtlCol="false" tIns="0" lIns="0" bIns="0" rIns="0">
            <a:spAutoFit/>
          </a:bodyPr>
          <a:lstStyle/>
          <a:p>
            <a:pPr algn="ctr" marL="0" indent="0" lvl="0">
              <a:lnSpc>
                <a:spcPts val="7840"/>
              </a:lnSpc>
              <a:spcBef>
                <a:spcPct val="0"/>
              </a:spcBef>
            </a:pPr>
            <a:r>
              <a:rPr lang="en-US" sz="7000">
                <a:solidFill>
                  <a:srgbClr val="FFFFFF"/>
                </a:solidFill>
                <a:latin typeface="Radley"/>
                <a:ea typeface="Radley"/>
                <a:cs typeface="Radley"/>
                <a:sym typeface="Radley"/>
              </a:rPr>
              <a:t>Project Objectives</a:t>
            </a:r>
          </a:p>
        </p:txBody>
      </p:sp>
      <p:grpSp>
        <p:nvGrpSpPr>
          <p:cNvPr name="Group 3" id="3"/>
          <p:cNvGrpSpPr/>
          <p:nvPr/>
        </p:nvGrpSpPr>
        <p:grpSpPr>
          <a:xfrm rot="0">
            <a:off x="666750" y="3352800"/>
            <a:ext cx="3476954" cy="1096125"/>
            <a:chOff x="0" y="0"/>
            <a:chExt cx="4635939" cy="1461500"/>
          </a:xfrm>
        </p:grpSpPr>
        <p:sp>
          <p:nvSpPr>
            <p:cNvPr name="TextBox 4" id="4"/>
            <p:cNvSpPr txBox="true"/>
            <p:nvPr/>
          </p:nvSpPr>
          <p:spPr>
            <a:xfrm rot="0">
              <a:off x="0" y="-47625"/>
              <a:ext cx="4635939" cy="601684"/>
            </a:xfrm>
            <a:prstGeom prst="rect">
              <a:avLst/>
            </a:prstGeom>
          </p:spPr>
          <p:txBody>
            <a:bodyPr anchor="t" rtlCol="false" tIns="0" lIns="0" bIns="0" rIns="0">
              <a:spAutoFit/>
            </a:bodyPr>
            <a:lstStyle/>
            <a:p>
              <a:pPr algn="l" marL="0" indent="0" lvl="0">
                <a:lnSpc>
                  <a:spcPts val="3870"/>
                </a:lnSpc>
                <a:spcBef>
                  <a:spcPct val="0"/>
                </a:spcBef>
              </a:pPr>
              <a:r>
                <a:rPr lang="en-US" sz="2764">
                  <a:solidFill>
                    <a:srgbClr val="FFFFFF"/>
                  </a:solidFill>
                  <a:latin typeface="Radley"/>
                  <a:ea typeface="Radley"/>
                  <a:cs typeface="Radley"/>
                  <a:sym typeface="Radley"/>
                </a:rPr>
                <a:t>Monitor Processes</a:t>
              </a:r>
            </a:p>
          </p:txBody>
        </p:sp>
        <p:sp>
          <p:nvSpPr>
            <p:cNvPr name="TextBox 5" id="5"/>
            <p:cNvSpPr txBox="true"/>
            <p:nvPr/>
          </p:nvSpPr>
          <p:spPr>
            <a:xfrm rot="0">
              <a:off x="0" y="528262"/>
              <a:ext cx="4635939" cy="933238"/>
            </a:xfrm>
            <a:prstGeom prst="rect">
              <a:avLst/>
            </a:prstGeom>
          </p:spPr>
          <p:txBody>
            <a:bodyPr anchor="t" rtlCol="false" tIns="0" lIns="0" bIns="0" rIns="0">
              <a:spAutoFit/>
            </a:bodyPr>
            <a:lstStyle/>
            <a:p>
              <a:pPr algn="l" marL="0" indent="0" lvl="0">
                <a:lnSpc>
                  <a:spcPts val="2764"/>
                </a:lnSpc>
              </a:pPr>
              <a:r>
                <a:rPr lang="en-US" sz="1974">
                  <a:solidFill>
                    <a:srgbClr val="FFFFFF"/>
                  </a:solidFill>
                  <a:latin typeface="Carlito"/>
                  <a:ea typeface="Carlito"/>
                  <a:cs typeface="Carlito"/>
                  <a:sym typeface="Carlito"/>
                </a:rPr>
                <a:t>Continuously track running system activities.</a:t>
              </a:r>
            </a:p>
          </p:txBody>
        </p:sp>
      </p:grpSp>
      <p:grpSp>
        <p:nvGrpSpPr>
          <p:cNvPr name="Group 6" id="6"/>
          <p:cNvGrpSpPr/>
          <p:nvPr/>
        </p:nvGrpSpPr>
        <p:grpSpPr>
          <a:xfrm rot="0">
            <a:off x="9296400" y="3352800"/>
            <a:ext cx="3476954" cy="1153139"/>
            <a:chOff x="0" y="0"/>
            <a:chExt cx="4635939" cy="1537518"/>
          </a:xfrm>
        </p:grpSpPr>
        <p:sp>
          <p:nvSpPr>
            <p:cNvPr name="TextBox 7" id="7"/>
            <p:cNvSpPr txBox="true"/>
            <p:nvPr/>
          </p:nvSpPr>
          <p:spPr>
            <a:xfrm rot="0">
              <a:off x="0" y="-47625"/>
              <a:ext cx="4635939" cy="601684"/>
            </a:xfrm>
            <a:prstGeom prst="rect">
              <a:avLst/>
            </a:prstGeom>
          </p:spPr>
          <p:txBody>
            <a:bodyPr anchor="t" rtlCol="false" tIns="0" lIns="0" bIns="0" rIns="0">
              <a:spAutoFit/>
            </a:bodyPr>
            <a:lstStyle/>
            <a:p>
              <a:pPr algn="l" marL="0" indent="0" lvl="0">
                <a:lnSpc>
                  <a:spcPts val="3870"/>
                </a:lnSpc>
                <a:spcBef>
                  <a:spcPct val="0"/>
                </a:spcBef>
              </a:pPr>
              <a:r>
                <a:rPr lang="en-US" sz="2764">
                  <a:solidFill>
                    <a:srgbClr val="FFFFFF"/>
                  </a:solidFill>
                  <a:latin typeface="Radley"/>
                  <a:ea typeface="Radley"/>
                  <a:cs typeface="Radley"/>
                  <a:sym typeface="Radley"/>
                </a:rPr>
                <a:t>Alert Users</a:t>
              </a:r>
            </a:p>
          </p:txBody>
        </p:sp>
        <p:sp>
          <p:nvSpPr>
            <p:cNvPr name="TextBox 8" id="8"/>
            <p:cNvSpPr txBox="true"/>
            <p:nvPr/>
          </p:nvSpPr>
          <p:spPr>
            <a:xfrm rot="0">
              <a:off x="0" y="604280"/>
              <a:ext cx="4635939" cy="933238"/>
            </a:xfrm>
            <a:prstGeom prst="rect">
              <a:avLst/>
            </a:prstGeom>
          </p:spPr>
          <p:txBody>
            <a:bodyPr anchor="t" rtlCol="false" tIns="0" lIns="0" bIns="0" rIns="0">
              <a:spAutoFit/>
            </a:bodyPr>
            <a:lstStyle/>
            <a:p>
              <a:pPr algn="l" marL="0" indent="0" lvl="0">
                <a:lnSpc>
                  <a:spcPts val="2764"/>
                </a:lnSpc>
                <a:spcBef>
                  <a:spcPct val="0"/>
                </a:spcBef>
              </a:pPr>
              <a:r>
                <a:rPr lang="en-US" sz="1974" strike="noStrike" u="none">
                  <a:solidFill>
                    <a:srgbClr val="FFFFFF"/>
                  </a:solidFill>
                  <a:latin typeface="Carlito"/>
                  <a:ea typeface="Carlito"/>
                  <a:cs typeface="Carlito"/>
                  <a:sym typeface="Carlito"/>
                </a:rPr>
                <a:t>Notify users of potential security threats.</a:t>
              </a:r>
            </a:p>
          </p:txBody>
        </p:sp>
      </p:grpSp>
      <p:grpSp>
        <p:nvGrpSpPr>
          <p:cNvPr name="Group 9" id="9"/>
          <p:cNvGrpSpPr/>
          <p:nvPr/>
        </p:nvGrpSpPr>
        <p:grpSpPr>
          <a:xfrm rot="0">
            <a:off x="4981575" y="3352800"/>
            <a:ext cx="3407712" cy="1096125"/>
            <a:chOff x="0" y="0"/>
            <a:chExt cx="4543615" cy="1461500"/>
          </a:xfrm>
        </p:grpSpPr>
        <p:sp>
          <p:nvSpPr>
            <p:cNvPr name="TextBox 10" id="10"/>
            <p:cNvSpPr txBox="true"/>
            <p:nvPr/>
          </p:nvSpPr>
          <p:spPr>
            <a:xfrm rot="0">
              <a:off x="0" y="-47625"/>
              <a:ext cx="4543615" cy="601684"/>
            </a:xfrm>
            <a:prstGeom prst="rect">
              <a:avLst/>
            </a:prstGeom>
          </p:spPr>
          <p:txBody>
            <a:bodyPr anchor="t" rtlCol="false" tIns="0" lIns="0" bIns="0" rIns="0">
              <a:spAutoFit/>
            </a:bodyPr>
            <a:lstStyle/>
            <a:p>
              <a:pPr algn="l" marL="0" indent="0" lvl="0">
                <a:lnSpc>
                  <a:spcPts val="3870"/>
                </a:lnSpc>
                <a:spcBef>
                  <a:spcPct val="0"/>
                </a:spcBef>
              </a:pPr>
              <a:r>
                <a:rPr lang="en-US" sz="2764">
                  <a:solidFill>
                    <a:srgbClr val="FFFFFF"/>
                  </a:solidFill>
                  <a:latin typeface="Radley"/>
                  <a:ea typeface="Radley"/>
                  <a:cs typeface="Radley"/>
                  <a:sym typeface="Radley"/>
                </a:rPr>
                <a:t>Detect Programs</a:t>
              </a:r>
            </a:p>
          </p:txBody>
        </p:sp>
        <p:sp>
          <p:nvSpPr>
            <p:cNvPr name="TextBox 11" id="11"/>
            <p:cNvSpPr txBox="true"/>
            <p:nvPr/>
          </p:nvSpPr>
          <p:spPr>
            <a:xfrm rot="0">
              <a:off x="0" y="528262"/>
              <a:ext cx="4543615" cy="933238"/>
            </a:xfrm>
            <a:prstGeom prst="rect">
              <a:avLst/>
            </a:prstGeom>
          </p:spPr>
          <p:txBody>
            <a:bodyPr anchor="t" rtlCol="false" tIns="0" lIns="0" bIns="0" rIns="0">
              <a:spAutoFit/>
            </a:bodyPr>
            <a:lstStyle/>
            <a:p>
              <a:pPr algn="l" marL="0" indent="0" lvl="0">
                <a:lnSpc>
                  <a:spcPts val="2764"/>
                </a:lnSpc>
                <a:spcBef>
                  <a:spcPct val="0"/>
                </a:spcBef>
              </a:pPr>
              <a:r>
                <a:rPr lang="en-US" sz="1974" strike="noStrike" u="none">
                  <a:solidFill>
                    <a:srgbClr val="FFFFFF"/>
                  </a:solidFill>
                  <a:latin typeface="Carlito"/>
                  <a:ea typeface="Carlito"/>
                  <a:cs typeface="Carlito"/>
                  <a:sym typeface="Carlito"/>
                </a:rPr>
                <a:t>Identify suspicious activities related to keyloggers.</a:t>
              </a:r>
            </a:p>
          </p:txBody>
        </p:sp>
      </p:grpSp>
      <p:grpSp>
        <p:nvGrpSpPr>
          <p:cNvPr name="Group 12" id="12"/>
          <p:cNvGrpSpPr/>
          <p:nvPr/>
        </p:nvGrpSpPr>
        <p:grpSpPr>
          <a:xfrm rot="0">
            <a:off x="9296400" y="4922520"/>
            <a:ext cx="4010025" cy="4697730"/>
            <a:chOff x="0" y="0"/>
            <a:chExt cx="1391532" cy="1630175"/>
          </a:xfrm>
        </p:grpSpPr>
        <p:sp>
          <p:nvSpPr>
            <p:cNvPr name="Freeform 13" id="13"/>
            <p:cNvSpPr/>
            <p:nvPr/>
          </p:nvSpPr>
          <p:spPr>
            <a:xfrm flipH="false" flipV="false" rot="0">
              <a:off x="0" y="0"/>
              <a:ext cx="1391532" cy="1630175"/>
            </a:xfrm>
            <a:custGeom>
              <a:avLst/>
              <a:gdLst/>
              <a:ahLst/>
              <a:cxnLst/>
              <a:rect r="r" b="b" t="t" l="l"/>
              <a:pathLst>
                <a:path h="1630175" w="1391532">
                  <a:moveTo>
                    <a:pt x="0" y="0"/>
                  </a:moveTo>
                  <a:lnTo>
                    <a:pt x="1391532" y="0"/>
                  </a:lnTo>
                  <a:lnTo>
                    <a:pt x="1391532" y="1630175"/>
                  </a:lnTo>
                  <a:lnTo>
                    <a:pt x="0" y="1630175"/>
                  </a:lnTo>
                  <a:close/>
                </a:path>
              </a:pathLst>
            </a:custGeom>
            <a:blipFill>
              <a:blip r:embed="rId2"/>
              <a:stretch>
                <a:fillRect l="0" t="-138" r="0" b="-138"/>
              </a:stretch>
            </a:blipFill>
          </p:spPr>
        </p:sp>
      </p:grpSp>
      <p:grpSp>
        <p:nvGrpSpPr>
          <p:cNvPr name="Group 14" id="14"/>
          <p:cNvGrpSpPr/>
          <p:nvPr/>
        </p:nvGrpSpPr>
        <p:grpSpPr>
          <a:xfrm rot="0">
            <a:off x="4981575" y="4922520"/>
            <a:ext cx="4010025" cy="4697730"/>
            <a:chOff x="0" y="0"/>
            <a:chExt cx="1391532" cy="1630175"/>
          </a:xfrm>
        </p:grpSpPr>
        <p:sp>
          <p:nvSpPr>
            <p:cNvPr name="Freeform 15" id="15"/>
            <p:cNvSpPr/>
            <p:nvPr/>
          </p:nvSpPr>
          <p:spPr>
            <a:xfrm flipH="false" flipV="false" rot="0">
              <a:off x="0" y="0"/>
              <a:ext cx="1391532" cy="1630175"/>
            </a:xfrm>
            <a:custGeom>
              <a:avLst/>
              <a:gdLst/>
              <a:ahLst/>
              <a:cxnLst/>
              <a:rect r="r" b="b" t="t" l="l"/>
              <a:pathLst>
                <a:path h="1630175" w="1391532">
                  <a:moveTo>
                    <a:pt x="0" y="0"/>
                  </a:moveTo>
                  <a:lnTo>
                    <a:pt x="1391532" y="0"/>
                  </a:lnTo>
                  <a:lnTo>
                    <a:pt x="1391532" y="1630175"/>
                  </a:lnTo>
                  <a:lnTo>
                    <a:pt x="0" y="1630175"/>
                  </a:lnTo>
                  <a:close/>
                </a:path>
              </a:pathLst>
            </a:custGeom>
            <a:blipFill>
              <a:blip r:embed="rId3"/>
              <a:stretch>
                <a:fillRect l="0" t="-138" r="0" b="-138"/>
              </a:stretch>
            </a:blipFill>
          </p:spPr>
        </p:sp>
      </p:grpSp>
      <p:grpSp>
        <p:nvGrpSpPr>
          <p:cNvPr name="Group 16" id="16"/>
          <p:cNvGrpSpPr/>
          <p:nvPr/>
        </p:nvGrpSpPr>
        <p:grpSpPr>
          <a:xfrm rot="0">
            <a:off x="666750" y="4922520"/>
            <a:ext cx="4010025" cy="4697730"/>
            <a:chOff x="0" y="0"/>
            <a:chExt cx="879848" cy="1030739"/>
          </a:xfrm>
        </p:grpSpPr>
        <p:sp>
          <p:nvSpPr>
            <p:cNvPr name="Freeform 17" id="17"/>
            <p:cNvSpPr/>
            <p:nvPr/>
          </p:nvSpPr>
          <p:spPr>
            <a:xfrm flipH="false" flipV="false" rot="0">
              <a:off x="0" y="0"/>
              <a:ext cx="879848" cy="1030739"/>
            </a:xfrm>
            <a:custGeom>
              <a:avLst/>
              <a:gdLst/>
              <a:ahLst/>
              <a:cxnLst/>
              <a:rect r="r" b="b" t="t" l="l"/>
              <a:pathLst>
                <a:path h="1030739" w="879848">
                  <a:moveTo>
                    <a:pt x="0" y="0"/>
                  </a:moveTo>
                  <a:lnTo>
                    <a:pt x="879848" y="0"/>
                  </a:lnTo>
                  <a:lnTo>
                    <a:pt x="879848" y="1030739"/>
                  </a:lnTo>
                  <a:lnTo>
                    <a:pt x="0" y="1030739"/>
                  </a:lnTo>
                  <a:close/>
                </a:path>
              </a:pathLst>
            </a:custGeom>
            <a:blipFill>
              <a:blip r:embed="rId4"/>
              <a:stretch>
                <a:fillRect l="0" t="-138" r="0" b="-138"/>
              </a:stretch>
            </a:blipFill>
          </p:spPr>
        </p:sp>
      </p:grpSp>
      <p:grpSp>
        <p:nvGrpSpPr>
          <p:cNvPr name="Group 18" id="18"/>
          <p:cNvGrpSpPr/>
          <p:nvPr/>
        </p:nvGrpSpPr>
        <p:grpSpPr>
          <a:xfrm rot="0">
            <a:off x="13611554" y="4922520"/>
            <a:ext cx="4010025" cy="4697730"/>
            <a:chOff x="0" y="0"/>
            <a:chExt cx="1391532" cy="1630175"/>
          </a:xfrm>
        </p:grpSpPr>
        <p:sp>
          <p:nvSpPr>
            <p:cNvPr name="Freeform 19" id="19"/>
            <p:cNvSpPr/>
            <p:nvPr/>
          </p:nvSpPr>
          <p:spPr>
            <a:xfrm flipH="false" flipV="false" rot="0">
              <a:off x="0" y="0"/>
              <a:ext cx="1391532" cy="1630175"/>
            </a:xfrm>
            <a:custGeom>
              <a:avLst/>
              <a:gdLst/>
              <a:ahLst/>
              <a:cxnLst/>
              <a:rect r="r" b="b" t="t" l="l"/>
              <a:pathLst>
                <a:path h="1630175" w="1391532">
                  <a:moveTo>
                    <a:pt x="0" y="0"/>
                  </a:moveTo>
                  <a:lnTo>
                    <a:pt x="1391532" y="0"/>
                  </a:lnTo>
                  <a:lnTo>
                    <a:pt x="1391532" y="1630175"/>
                  </a:lnTo>
                  <a:lnTo>
                    <a:pt x="0" y="1630175"/>
                  </a:lnTo>
                  <a:close/>
                </a:path>
              </a:pathLst>
            </a:custGeom>
            <a:blipFill>
              <a:blip r:embed="rId5"/>
              <a:stretch>
                <a:fillRect l="0" t="-138" r="0" b="-138"/>
              </a:stretch>
            </a:blipFill>
          </p:spPr>
        </p:sp>
      </p:grpSp>
      <p:grpSp>
        <p:nvGrpSpPr>
          <p:cNvPr name="Group 20" id="20"/>
          <p:cNvGrpSpPr/>
          <p:nvPr/>
        </p:nvGrpSpPr>
        <p:grpSpPr>
          <a:xfrm rot="0">
            <a:off x="13611554" y="3352800"/>
            <a:ext cx="3476954" cy="1153139"/>
            <a:chOff x="0" y="0"/>
            <a:chExt cx="4635939" cy="1537518"/>
          </a:xfrm>
        </p:grpSpPr>
        <p:sp>
          <p:nvSpPr>
            <p:cNvPr name="TextBox 21" id="21"/>
            <p:cNvSpPr txBox="true"/>
            <p:nvPr/>
          </p:nvSpPr>
          <p:spPr>
            <a:xfrm rot="0">
              <a:off x="0" y="-47625"/>
              <a:ext cx="4635939" cy="601684"/>
            </a:xfrm>
            <a:prstGeom prst="rect">
              <a:avLst/>
            </a:prstGeom>
          </p:spPr>
          <p:txBody>
            <a:bodyPr anchor="t" rtlCol="false" tIns="0" lIns="0" bIns="0" rIns="0">
              <a:spAutoFit/>
            </a:bodyPr>
            <a:lstStyle/>
            <a:p>
              <a:pPr algn="l" marL="0" indent="0" lvl="0">
                <a:lnSpc>
                  <a:spcPts val="3870"/>
                </a:lnSpc>
                <a:spcBef>
                  <a:spcPct val="0"/>
                </a:spcBef>
              </a:pPr>
              <a:r>
                <a:rPr lang="en-US" sz="2764">
                  <a:solidFill>
                    <a:srgbClr val="FFFFFF"/>
                  </a:solidFill>
                  <a:latin typeface="Radley"/>
                  <a:ea typeface="Radley"/>
                  <a:cs typeface="Radley"/>
                  <a:sym typeface="Radley"/>
                </a:rPr>
                <a:t>Understand Malware</a:t>
              </a:r>
            </a:p>
          </p:txBody>
        </p:sp>
        <p:sp>
          <p:nvSpPr>
            <p:cNvPr name="TextBox 22" id="22"/>
            <p:cNvSpPr txBox="true"/>
            <p:nvPr/>
          </p:nvSpPr>
          <p:spPr>
            <a:xfrm rot="0">
              <a:off x="0" y="604280"/>
              <a:ext cx="4635939" cy="933238"/>
            </a:xfrm>
            <a:prstGeom prst="rect">
              <a:avLst/>
            </a:prstGeom>
          </p:spPr>
          <p:txBody>
            <a:bodyPr anchor="t" rtlCol="false" tIns="0" lIns="0" bIns="0" rIns="0">
              <a:spAutoFit/>
            </a:bodyPr>
            <a:lstStyle/>
            <a:p>
              <a:pPr algn="l" marL="0" indent="0" lvl="0">
                <a:lnSpc>
                  <a:spcPts val="2764"/>
                </a:lnSpc>
                <a:spcBef>
                  <a:spcPct val="0"/>
                </a:spcBef>
              </a:pPr>
              <a:r>
                <a:rPr lang="en-US" sz="1974" strike="noStrike" u="none">
                  <a:solidFill>
                    <a:srgbClr val="FFFFFF"/>
                  </a:solidFill>
                  <a:latin typeface="Carlito"/>
                  <a:ea typeface="Carlito"/>
                  <a:cs typeface="Carlito"/>
                  <a:sym typeface="Carlito"/>
                </a:rPr>
                <a:t>Learn basic techniques for malware detection.</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F3460"/>
        </a:solidFill>
      </p:bgPr>
    </p:bg>
    <p:spTree>
      <p:nvGrpSpPr>
        <p:cNvPr id="1" name=""/>
        <p:cNvGrpSpPr/>
        <p:nvPr/>
      </p:nvGrpSpPr>
      <p:grpSpPr>
        <a:xfrm>
          <a:off x="0" y="0"/>
          <a:ext cx="0" cy="0"/>
          <a:chOff x="0" y="0"/>
          <a:chExt cx="0" cy="0"/>
        </a:xfrm>
      </p:grpSpPr>
      <p:grpSp>
        <p:nvGrpSpPr>
          <p:cNvPr name="Group 2" id="2"/>
          <p:cNvGrpSpPr/>
          <p:nvPr/>
        </p:nvGrpSpPr>
        <p:grpSpPr>
          <a:xfrm rot="0">
            <a:off x="9296400" y="6038850"/>
            <a:ext cx="4010025" cy="3581400"/>
            <a:chOff x="0" y="0"/>
            <a:chExt cx="1391532" cy="1242794"/>
          </a:xfrm>
        </p:grpSpPr>
        <p:sp>
          <p:nvSpPr>
            <p:cNvPr name="Freeform 3" id="3"/>
            <p:cNvSpPr/>
            <p:nvPr/>
          </p:nvSpPr>
          <p:spPr>
            <a:xfrm flipH="false" flipV="false" rot="0">
              <a:off x="0" y="0"/>
              <a:ext cx="1391532" cy="1242794"/>
            </a:xfrm>
            <a:custGeom>
              <a:avLst/>
              <a:gdLst/>
              <a:ahLst/>
              <a:cxnLst/>
              <a:rect r="r" b="b" t="t" l="l"/>
              <a:pathLst>
                <a:path h="1242794" w="1391532">
                  <a:moveTo>
                    <a:pt x="0" y="0"/>
                  </a:moveTo>
                  <a:lnTo>
                    <a:pt x="1391532" y="0"/>
                  </a:lnTo>
                  <a:lnTo>
                    <a:pt x="1391532" y="1242794"/>
                  </a:lnTo>
                  <a:lnTo>
                    <a:pt x="0" y="1242794"/>
                  </a:lnTo>
                  <a:close/>
                </a:path>
              </a:pathLst>
            </a:custGeom>
            <a:blipFill>
              <a:blip r:embed="rId2"/>
              <a:stretch>
                <a:fillRect l="-104" t="0" r="-104" b="0"/>
              </a:stretch>
            </a:blipFill>
          </p:spPr>
        </p:sp>
      </p:grpSp>
      <p:grpSp>
        <p:nvGrpSpPr>
          <p:cNvPr name="Group 4" id="4"/>
          <p:cNvGrpSpPr/>
          <p:nvPr/>
        </p:nvGrpSpPr>
        <p:grpSpPr>
          <a:xfrm rot="0">
            <a:off x="4981575" y="6038850"/>
            <a:ext cx="4010025" cy="3581400"/>
            <a:chOff x="0" y="0"/>
            <a:chExt cx="1391532" cy="1242794"/>
          </a:xfrm>
        </p:grpSpPr>
        <p:sp>
          <p:nvSpPr>
            <p:cNvPr name="Freeform 5" id="5"/>
            <p:cNvSpPr/>
            <p:nvPr/>
          </p:nvSpPr>
          <p:spPr>
            <a:xfrm flipH="false" flipV="false" rot="0">
              <a:off x="0" y="0"/>
              <a:ext cx="1391532" cy="1242794"/>
            </a:xfrm>
            <a:custGeom>
              <a:avLst/>
              <a:gdLst/>
              <a:ahLst/>
              <a:cxnLst/>
              <a:rect r="r" b="b" t="t" l="l"/>
              <a:pathLst>
                <a:path h="1242794" w="1391532">
                  <a:moveTo>
                    <a:pt x="0" y="0"/>
                  </a:moveTo>
                  <a:lnTo>
                    <a:pt x="1391532" y="0"/>
                  </a:lnTo>
                  <a:lnTo>
                    <a:pt x="1391532" y="1242794"/>
                  </a:lnTo>
                  <a:lnTo>
                    <a:pt x="0" y="1242794"/>
                  </a:lnTo>
                  <a:close/>
                </a:path>
              </a:pathLst>
            </a:custGeom>
            <a:blipFill>
              <a:blip r:embed="rId3"/>
              <a:stretch>
                <a:fillRect l="-104" t="0" r="-104" b="0"/>
              </a:stretch>
            </a:blipFill>
          </p:spPr>
        </p:sp>
      </p:grpSp>
      <p:grpSp>
        <p:nvGrpSpPr>
          <p:cNvPr name="Group 6" id="6"/>
          <p:cNvGrpSpPr/>
          <p:nvPr/>
        </p:nvGrpSpPr>
        <p:grpSpPr>
          <a:xfrm rot="0">
            <a:off x="13611225" y="6038850"/>
            <a:ext cx="4010025" cy="3581400"/>
            <a:chOff x="0" y="0"/>
            <a:chExt cx="1391532" cy="1242794"/>
          </a:xfrm>
        </p:grpSpPr>
        <p:sp>
          <p:nvSpPr>
            <p:cNvPr name="Freeform 7" id="7"/>
            <p:cNvSpPr/>
            <p:nvPr/>
          </p:nvSpPr>
          <p:spPr>
            <a:xfrm flipH="false" flipV="false" rot="0">
              <a:off x="0" y="0"/>
              <a:ext cx="1391532" cy="1242794"/>
            </a:xfrm>
            <a:custGeom>
              <a:avLst/>
              <a:gdLst/>
              <a:ahLst/>
              <a:cxnLst/>
              <a:rect r="r" b="b" t="t" l="l"/>
              <a:pathLst>
                <a:path h="1242794" w="1391532">
                  <a:moveTo>
                    <a:pt x="0" y="0"/>
                  </a:moveTo>
                  <a:lnTo>
                    <a:pt x="1391532" y="0"/>
                  </a:lnTo>
                  <a:lnTo>
                    <a:pt x="1391532" y="1242794"/>
                  </a:lnTo>
                  <a:lnTo>
                    <a:pt x="0" y="1242794"/>
                  </a:lnTo>
                  <a:close/>
                </a:path>
              </a:pathLst>
            </a:custGeom>
            <a:blipFill>
              <a:blip r:embed="rId4"/>
              <a:stretch>
                <a:fillRect l="-104" t="0" r="-104" b="0"/>
              </a:stretch>
            </a:blipFill>
          </p:spPr>
        </p:sp>
      </p:grpSp>
      <p:sp>
        <p:nvSpPr>
          <p:cNvPr name="TextBox 8" id="8"/>
          <p:cNvSpPr txBox="true"/>
          <p:nvPr/>
        </p:nvSpPr>
        <p:spPr>
          <a:xfrm rot="0">
            <a:off x="666750" y="723900"/>
            <a:ext cx="13249275" cy="1004572"/>
          </a:xfrm>
          <a:prstGeom prst="rect">
            <a:avLst/>
          </a:prstGeom>
        </p:spPr>
        <p:txBody>
          <a:bodyPr anchor="t" rtlCol="false" tIns="0" lIns="0" bIns="0" rIns="0">
            <a:spAutoFit/>
          </a:bodyPr>
          <a:lstStyle/>
          <a:p>
            <a:pPr algn="l" marL="0" indent="0" lvl="0">
              <a:lnSpc>
                <a:spcPts val="7840"/>
              </a:lnSpc>
              <a:spcBef>
                <a:spcPct val="0"/>
              </a:spcBef>
            </a:pPr>
            <a:r>
              <a:rPr lang="en-US" sz="7000">
                <a:solidFill>
                  <a:srgbClr val="FFFFFF"/>
                </a:solidFill>
                <a:latin typeface="Radley"/>
                <a:ea typeface="Radley"/>
                <a:cs typeface="Radley"/>
                <a:sym typeface="Radley"/>
              </a:rPr>
              <a:t>Working Methodology</a:t>
            </a:r>
          </a:p>
        </p:txBody>
      </p:sp>
      <p:grpSp>
        <p:nvGrpSpPr>
          <p:cNvPr name="Group 9" id="9"/>
          <p:cNvGrpSpPr/>
          <p:nvPr/>
        </p:nvGrpSpPr>
        <p:grpSpPr>
          <a:xfrm rot="0">
            <a:off x="4981575" y="4248150"/>
            <a:ext cx="2876550" cy="1230376"/>
            <a:chOff x="0" y="0"/>
            <a:chExt cx="3835400" cy="1640501"/>
          </a:xfrm>
        </p:grpSpPr>
        <p:sp>
          <p:nvSpPr>
            <p:cNvPr name="TextBox 10" id="10"/>
            <p:cNvSpPr txBox="true"/>
            <p:nvPr/>
          </p:nvSpPr>
          <p:spPr>
            <a:xfrm rot="0">
              <a:off x="0" y="-57150"/>
              <a:ext cx="3835400" cy="589365"/>
            </a:xfrm>
            <a:prstGeom prst="rect">
              <a:avLst/>
            </a:prstGeom>
          </p:spPr>
          <p:txBody>
            <a:bodyPr anchor="t" rtlCol="false" tIns="0" lIns="0" bIns="0" rIns="0">
              <a:spAutoFit/>
            </a:bodyPr>
            <a:lstStyle/>
            <a:p>
              <a:pPr algn="l" marL="0" indent="0" lvl="0">
                <a:lnSpc>
                  <a:spcPts val="3723"/>
                </a:lnSpc>
                <a:spcBef>
                  <a:spcPct val="0"/>
                </a:spcBef>
              </a:pPr>
              <a:r>
                <a:rPr lang="en-US" sz="2659">
                  <a:solidFill>
                    <a:srgbClr val="FFFFFF"/>
                  </a:solidFill>
                  <a:latin typeface="Radley"/>
                  <a:ea typeface="Radley"/>
                  <a:cs typeface="Radley"/>
                  <a:sym typeface="Radley"/>
                </a:rPr>
                <a:t>Scan Processes</a:t>
              </a:r>
            </a:p>
          </p:txBody>
        </p:sp>
        <p:sp>
          <p:nvSpPr>
            <p:cNvPr name="TextBox 11" id="11"/>
            <p:cNvSpPr txBox="true"/>
            <p:nvPr/>
          </p:nvSpPr>
          <p:spPr>
            <a:xfrm rot="0">
              <a:off x="0" y="787061"/>
              <a:ext cx="3835400" cy="853440"/>
            </a:xfrm>
            <a:prstGeom prst="rect">
              <a:avLst/>
            </a:prstGeom>
          </p:spPr>
          <p:txBody>
            <a:bodyPr anchor="t" rtlCol="false" tIns="0" lIns="0" bIns="0" rIns="0">
              <a:spAutoFit/>
            </a:bodyPr>
            <a:lstStyle/>
            <a:p>
              <a:pPr algn="l" marL="0" indent="0" lvl="0">
                <a:lnSpc>
                  <a:spcPts val="2520"/>
                </a:lnSpc>
              </a:pPr>
              <a:r>
                <a:rPr lang="en-US" sz="1800">
                  <a:solidFill>
                    <a:srgbClr val="FFFFFF"/>
                  </a:solidFill>
                  <a:latin typeface="Carlito"/>
                  <a:ea typeface="Carlito"/>
                  <a:cs typeface="Carlito"/>
                  <a:sym typeface="Carlito"/>
                </a:rPr>
                <a:t>Continuously monitors active processes in real-time.</a:t>
              </a:r>
            </a:p>
          </p:txBody>
        </p:sp>
      </p:grpSp>
      <p:grpSp>
        <p:nvGrpSpPr>
          <p:cNvPr name="Group 12" id="12"/>
          <p:cNvGrpSpPr/>
          <p:nvPr/>
        </p:nvGrpSpPr>
        <p:grpSpPr>
          <a:xfrm rot="0">
            <a:off x="9296400" y="4248150"/>
            <a:ext cx="2876550" cy="1230376"/>
            <a:chOff x="0" y="0"/>
            <a:chExt cx="3835400" cy="1640501"/>
          </a:xfrm>
        </p:grpSpPr>
        <p:sp>
          <p:nvSpPr>
            <p:cNvPr name="TextBox 13" id="13"/>
            <p:cNvSpPr txBox="true"/>
            <p:nvPr/>
          </p:nvSpPr>
          <p:spPr>
            <a:xfrm rot="0">
              <a:off x="0" y="787061"/>
              <a:ext cx="3835400" cy="853440"/>
            </a:xfrm>
            <a:prstGeom prst="rect">
              <a:avLst/>
            </a:prstGeom>
          </p:spPr>
          <p:txBody>
            <a:bodyPr anchor="t" rtlCol="false" tIns="0" lIns="0" bIns="0" rIns="0">
              <a:spAutoFit/>
            </a:bodyPr>
            <a:lstStyle/>
            <a:p>
              <a:pPr algn="l" marL="0" indent="0" lvl="0">
                <a:lnSpc>
                  <a:spcPts val="2520"/>
                </a:lnSpc>
              </a:pPr>
              <a:r>
                <a:rPr lang="en-US" sz="1800">
                  <a:solidFill>
                    <a:srgbClr val="FFFFFF"/>
                  </a:solidFill>
                  <a:latin typeface="Carlito"/>
                  <a:ea typeface="Carlito"/>
                  <a:cs typeface="Carlito"/>
                  <a:sym typeface="Carlito"/>
                </a:rPr>
                <a:t>Matches suspicious keywords against running processes.</a:t>
              </a:r>
            </a:p>
          </p:txBody>
        </p:sp>
        <p:sp>
          <p:nvSpPr>
            <p:cNvPr name="TextBox 14" id="14"/>
            <p:cNvSpPr txBox="true"/>
            <p:nvPr/>
          </p:nvSpPr>
          <p:spPr>
            <a:xfrm rot="0">
              <a:off x="0" y="-57150"/>
              <a:ext cx="3835400" cy="589365"/>
            </a:xfrm>
            <a:prstGeom prst="rect">
              <a:avLst/>
            </a:prstGeom>
          </p:spPr>
          <p:txBody>
            <a:bodyPr anchor="t" rtlCol="false" tIns="0" lIns="0" bIns="0" rIns="0">
              <a:spAutoFit/>
            </a:bodyPr>
            <a:lstStyle/>
            <a:p>
              <a:pPr algn="l" marL="0" indent="0" lvl="0">
                <a:lnSpc>
                  <a:spcPts val="3723"/>
                </a:lnSpc>
                <a:spcBef>
                  <a:spcPct val="0"/>
                </a:spcBef>
              </a:pPr>
              <a:r>
                <a:rPr lang="en-US" sz="2659">
                  <a:solidFill>
                    <a:srgbClr val="FFFFFF"/>
                  </a:solidFill>
                  <a:latin typeface="Radley"/>
                  <a:ea typeface="Radley"/>
                  <a:cs typeface="Radley"/>
                  <a:sym typeface="Radley"/>
                </a:rPr>
                <a:t>Compare Keywords</a:t>
              </a:r>
            </a:p>
          </p:txBody>
        </p:sp>
      </p:grpSp>
      <p:grpSp>
        <p:nvGrpSpPr>
          <p:cNvPr name="Group 15" id="15"/>
          <p:cNvGrpSpPr/>
          <p:nvPr/>
        </p:nvGrpSpPr>
        <p:grpSpPr>
          <a:xfrm rot="0">
            <a:off x="13611225" y="4248150"/>
            <a:ext cx="2876550" cy="1230376"/>
            <a:chOff x="0" y="0"/>
            <a:chExt cx="3835400" cy="1640501"/>
          </a:xfrm>
        </p:grpSpPr>
        <p:sp>
          <p:nvSpPr>
            <p:cNvPr name="TextBox 16" id="16"/>
            <p:cNvSpPr txBox="true"/>
            <p:nvPr/>
          </p:nvSpPr>
          <p:spPr>
            <a:xfrm rot="0">
              <a:off x="0" y="787061"/>
              <a:ext cx="3835400" cy="853440"/>
            </a:xfrm>
            <a:prstGeom prst="rect">
              <a:avLst/>
            </a:prstGeom>
          </p:spPr>
          <p:txBody>
            <a:bodyPr anchor="t" rtlCol="false" tIns="0" lIns="0" bIns="0" rIns="0">
              <a:spAutoFit/>
            </a:bodyPr>
            <a:lstStyle/>
            <a:p>
              <a:pPr algn="l" marL="0" indent="0" lvl="0">
                <a:lnSpc>
                  <a:spcPts val="2520"/>
                </a:lnSpc>
              </a:pPr>
              <a:r>
                <a:rPr lang="en-US" sz="1800">
                  <a:solidFill>
                    <a:srgbClr val="FFFFFF"/>
                  </a:solidFill>
                  <a:latin typeface="Carlito"/>
                  <a:ea typeface="Carlito"/>
                  <a:cs typeface="Carlito"/>
                  <a:sym typeface="Carlito"/>
                </a:rPr>
                <a:t>Alerts users when suspicious activities are detected.</a:t>
              </a:r>
            </a:p>
          </p:txBody>
        </p:sp>
        <p:sp>
          <p:nvSpPr>
            <p:cNvPr name="TextBox 17" id="17"/>
            <p:cNvSpPr txBox="true"/>
            <p:nvPr/>
          </p:nvSpPr>
          <p:spPr>
            <a:xfrm rot="0">
              <a:off x="0" y="-57150"/>
              <a:ext cx="3835400" cy="589365"/>
            </a:xfrm>
            <a:prstGeom prst="rect">
              <a:avLst/>
            </a:prstGeom>
          </p:spPr>
          <p:txBody>
            <a:bodyPr anchor="t" rtlCol="false" tIns="0" lIns="0" bIns="0" rIns="0">
              <a:spAutoFit/>
            </a:bodyPr>
            <a:lstStyle/>
            <a:p>
              <a:pPr algn="l" marL="0" indent="0" lvl="0">
                <a:lnSpc>
                  <a:spcPts val="3723"/>
                </a:lnSpc>
                <a:spcBef>
                  <a:spcPct val="0"/>
                </a:spcBef>
              </a:pPr>
              <a:r>
                <a:rPr lang="en-US" sz="2659">
                  <a:solidFill>
                    <a:srgbClr val="FFFFFF"/>
                  </a:solidFill>
                  <a:latin typeface="Radley"/>
                  <a:ea typeface="Radley"/>
                  <a:cs typeface="Radley"/>
                  <a:sym typeface="Radley"/>
                </a:rPr>
                <a:t>Flag Matches</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53354A"/>
        </a:solidFill>
      </p:bgPr>
    </p:bg>
    <p:spTree>
      <p:nvGrpSpPr>
        <p:cNvPr id="1" name=""/>
        <p:cNvGrpSpPr/>
        <p:nvPr/>
      </p:nvGrpSpPr>
      <p:grpSpPr>
        <a:xfrm>
          <a:off x="0" y="0"/>
          <a:ext cx="0" cy="0"/>
          <a:chOff x="0" y="0"/>
          <a:chExt cx="0" cy="0"/>
        </a:xfrm>
      </p:grpSpPr>
      <p:grpSp>
        <p:nvGrpSpPr>
          <p:cNvPr name="Group 2" id="2"/>
          <p:cNvGrpSpPr/>
          <p:nvPr/>
        </p:nvGrpSpPr>
        <p:grpSpPr>
          <a:xfrm rot="0">
            <a:off x="10734675" y="0"/>
            <a:ext cx="7553325" cy="6934200"/>
            <a:chOff x="0" y="0"/>
            <a:chExt cx="2442972" cy="2242728"/>
          </a:xfrm>
        </p:grpSpPr>
        <p:sp>
          <p:nvSpPr>
            <p:cNvPr name="Freeform 3" id="3"/>
            <p:cNvSpPr/>
            <p:nvPr/>
          </p:nvSpPr>
          <p:spPr>
            <a:xfrm flipH="false" flipV="false" rot="0">
              <a:off x="0" y="0"/>
              <a:ext cx="2442972" cy="2242728"/>
            </a:xfrm>
            <a:custGeom>
              <a:avLst/>
              <a:gdLst/>
              <a:ahLst/>
              <a:cxnLst/>
              <a:rect r="r" b="b" t="t" l="l"/>
              <a:pathLst>
                <a:path h="2242728" w="2442972">
                  <a:moveTo>
                    <a:pt x="0" y="0"/>
                  </a:moveTo>
                  <a:lnTo>
                    <a:pt x="2442972" y="0"/>
                  </a:lnTo>
                  <a:lnTo>
                    <a:pt x="2442972" y="2242728"/>
                  </a:lnTo>
                  <a:lnTo>
                    <a:pt x="0" y="2242728"/>
                  </a:lnTo>
                  <a:close/>
                </a:path>
              </a:pathLst>
            </a:custGeom>
            <a:blipFill>
              <a:blip r:embed="rId2"/>
              <a:stretch>
                <a:fillRect l="-234" t="0" r="-234" b="0"/>
              </a:stretch>
            </a:blipFill>
          </p:spPr>
        </p:sp>
      </p:grpSp>
      <p:grpSp>
        <p:nvGrpSpPr>
          <p:cNvPr name="Group 4" id="4"/>
          <p:cNvGrpSpPr/>
          <p:nvPr/>
        </p:nvGrpSpPr>
        <p:grpSpPr>
          <a:xfrm rot="0">
            <a:off x="0" y="5143500"/>
            <a:ext cx="9296400" cy="5143500"/>
            <a:chOff x="0" y="0"/>
            <a:chExt cx="3882322" cy="2148006"/>
          </a:xfrm>
        </p:grpSpPr>
        <p:sp>
          <p:nvSpPr>
            <p:cNvPr name="Freeform 5" id="5"/>
            <p:cNvSpPr/>
            <p:nvPr/>
          </p:nvSpPr>
          <p:spPr>
            <a:xfrm flipH="false" flipV="false" rot="0">
              <a:off x="0" y="0"/>
              <a:ext cx="3882322" cy="2148006"/>
            </a:xfrm>
            <a:custGeom>
              <a:avLst/>
              <a:gdLst/>
              <a:ahLst/>
              <a:cxnLst/>
              <a:rect r="r" b="b" t="t" l="l"/>
              <a:pathLst>
                <a:path h="2148006" w="3882322">
                  <a:moveTo>
                    <a:pt x="0" y="0"/>
                  </a:moveTo>
                  <a:lnTo>
                    <a:pt x="3882322" y="0"/>
                  </a:lnTo>
                  <a:lnTo>
                    <a:pt x="3882322" y="2148006"/>
                  </a:lnTo>
                  <a:lnTo>
                    <a:pt x="0" y="2148006"/>
                  </a:lnTo>
                  <a:close/>
                </a:path>
              </a:pathLst>
            </a:custGeom>
            <a:blipFill>
              <a:blip r:embed="rId3"/>
              <a:stretch>
                <a:fillRect l="-527" t="0" r="-527" b="0"/>
              </a:stretch>
            </a:blipFill>
          </p:spPr>
        </p:sp>
      </p:grpSp>
      <p:grpSp>
        <p:nvGrpSpPr>
          <p:cNvPr name="Group 6" id="6"/>
          <p:cNvGrpSpPr/>
          <p:nvPr/>
        </p:nvGrpSpPr>
        <p:grpSpPr>
          <a:xfrm rot="0">
            <a:off x="666750" y="666750"/>
            <a:ext cx="8629650" cy="2719075"/>
            <a:chOff x="0" y="0"/>
            <a:chExt cx="11506200" cy="3625433"/>
          </a:xfrm>
        </p:grpSpPr>
        <p:sp>
          <p:nvSpPr>
            <p:cNvPr name="TextBox 7" id="7"/>
            <p:cNvSpPr txBox="true"/>
            <p:nvPr/>
          </p:nvSpPr>
          <p:spPr>
            <a:xfrm rot="0">
              <a:off x="0" y="57150"/>
              <a:ext cx="11506200" cy="1358479"/>
            </a:xfrm>
            <a:prstGeom prst="rect">
              <a:avLst/>
            </a:prstGeom>
          </p:spPr>
          <p:txBody>
            <a:bodyPr anchor="t" rtlCol="false" tIns="0" lIns="0" bIns="0" rIns="0">
              <a:spAutoFit/>
            </a:bodyPr>
            <a:lstStyle/>
            <a:p>
              <a:pPr algn="l" marL="0" indent="0" lvl="0">
                <a:lnSpc>
                  <a:spcPts val="7840"/>
                </a:lnSpc>
                <a:spcBef>
                  <a:spcPct val="0"/>
                </a:spcBef>
              </a:pPr>
              <a:r>
                <a:rPr lang="en-US" sz="7000">
                  <a:solidFill>
                    <a:srgbClr val="FFFFFF"/>
                  </a:solidFill>
                  <a:latin typeface="Radley"/>
                  <a:ea typeface="Radley"/>
                  <a:cs typeface="Radley"/>
                  <a:sym typeface="Radley"/>
                </a:rPr>
                <a:t>Tools &amp; Technologies</a:t>
              </a:r>
            </a:p>
          </p:txBody>
        </p:sp>
        <p:sp>
          <p:nvSpPr>
            <p:cNvPr name="TextBox 8" id="8"/>
            <p:cNvSpPr txBox="true"/>
            <p:nvPr/>
          </p:nvSpPr>
          <p:spPr>
            <a:xfrm rot="0">
              <a:off x="0" y="2330456"/>
              <a:ext cx="11506200" cy="622724"/>
            </a:xfrm>
            <a:prstGeom prst="rect">
              <a:avLst/>
            </a:prstGeom>
          </p:spPr>
          <p:txBody>
            <a:bodyPr anchor="t" rtlCol="false" tIns="0" lIns="0" bIns="0" rIns="0">
              <a:spAutoFit/>
            </a:bodyPr>
            <a:lstStyle/>
            <a:p>
              <a:pPr algn="l" marL="0" indent="0" lvl="0">
                <a:lnSpc>
                  <a:spcPts val="3919"/>
                </a:lnSpc>
                <a:spcBef>
                  <a:spcPct val="0"/>
                </a:spcBef>
              </a:pPr>
              <a:r>
                <a:rPr lang="en-US" sz="2799">
                  <a:solidFill>
                    <a:srgbClr val="FFFFFF"/>
                  </a:solidFill>
                  <a:latin typeface="Radley"/>
                  <a:ea typeface="Radley"/>
                  <a:cs typeface="Radley"/>
                  <a:sym typeface="Radley"/>
                </a:rPr>
                <a:t>Programming Language</a:t>
              </a:r>
            </a:p>
          </p:txBody>
        </p:sp>
        <p:sp>
          <p:nvSpPr>
            <p:cNvPr name="TextBox 9" id="9"/>
            <p:cNvSpPr txBox="true"/>
            <p:nvPr/>
          </p:nvSpPr>
          <p:spPr>
            <a:xfrm rot="0">
              <a:off x="0" y="3137541"/>
              <a:ext cx="11506200" cy="487892"/>
            </a:xfrm>
            <a:prstGeom prst="rect">
              <a:avLst/>
            </a:prstGeom>
          </p:spPr>
          <p:txBody>
            <a:bodyPr anchor="t" rtlCol="false" tIns="0" lIns="0" bIns="0" rIns="0">
              <a:spAutoFit/>
            </a:bodyPr>
            <a:lstStyle/>
            <a:p>
              <a:pPr algn="l" marL="0" indent="0" lvl="0">
                <a:lnSpc>
                  <a:spcPts val="2799"/>
                </a:lnSpc>
              </a:pPr>
              <a:r>
                <a:rPr lang="en-US" sz="1999">
                  <a:solidFill>
                    <a:srgbClr val="FFFFFF"/>
                  </a:solidFill>
                  <a:latin typeface="Carlito"/>
                  <a:ea typeface="Carlito"/>
                  <a:cs typeface="Carlito"/>
                  <a:sym typeface="Carlito"/>
                </a:rPr>
                <a:t>The project is built using </a:t>
              </a:r>
              <a:r>
                <a:rPr lang="en-US" b="true" sz="1999">
                  <a:solidFill>
                    <a:srgbClr val="FFFFFF"/>
                  </a:solidFill>
                  <a:latin typeface="Carlito Bold"/>
                  <a:ea typeface="Carlito Bold"/>
                  <a:cs typeface="Carlito Bold"/>
                  <a:sym typeface="Carlito Bold"/>
                </a:rPr>
                <a:t>Python programming.</a:t>
              </a:r>
            </a:p>
          </p:txBody>
        </p:sp>
      </p:grpSp>
      <p:grpSp>
        <p:nvGrpSpPr>
          <p:cNvPr name="Group 10" id="10"/>
          <p:cNvGrpSpPr/>
          <p:nvPr/>
        </p:nvGrpSpPr>
        <p:grpSpPr>
          <a:xfrm rot="0">
            <a:off x="10734675" y="7829550"/>
            <a:ext cx="5753100" cy="928370"/>
            <a:chOff x="0" y="0"/>
            <a:chExt cx="7670800" cy="1237827"/>
          </a:xfrm>
        </p:grpSpPr>
        <p:sp>
          <p:nvSpPr>
            <p:cNvPr name="TextBox 11" id="11"/>
            <p:cNvSpPr txBox="true"/>
            <p:nvPr/>
          </p:nvSpPr>
          <p:spPr>
            <a:xfrm rot="0">
              <a:off x="0" y="-57150"/>
              <a:ext cx="7670800" cy="622724"/>
            </a:xfrm>
            <a:prstGeom prst="rect">
              <a:avLst/>
            </a:prstGeom>
          </p:spPr>
          <p:txBody>
            <a:bodyPr anchor="t" rtlCol="false" tIns="0" lIns="0" bIns="0" rIns="0">
              <a:spAutoFit/>
            </a:bodyPr>
            <a:lstStyle/>
            <a:p>
              <a:pPr algn="l" marL="0" indent="0" lvl="0">
                <a:lnSpc>
                  <a:spcPts val="3919"/>
                </a:lnSpc>
                <a:spcBef>
                  <a:spcPct val="0"/>
                </a:spcBef>
              </a:pPr>
              <a:r>
                <a:rPr lang="en-US" sz="2799">
                  <a:solidFill>
                    <a:srgbClr val="FFFFFF"/>
                  </a:solidFill>
                  <a:latin typeface="Radley"/>
                  <a:ea typeface="Radley"/>
                  <a:cs typeface="Radley"/>
                  <a:sym typeface="Radley"/>
                </a:rPr>
                <a:t>Libraries Used</a:t>
              </a:r>
            </a:p>
          </p:txBody>
        </p:sp>
        <p:sp>
          <p:nvSpPr>
            <p:cNvPr name="TextBox 12" id="12"/>
            <p:cNvSpPr txBox="true"/>
            <p:nvPr/>
          </p:nvSpPr>
          <p:spPr>
            <a:xfrm rot="0">
              <a:off x="0" y="749935"/>
              <a:ext cx="7670800" cy="487892"/>
            </a:xfrm>
            <a:prstGeom prst="rect">
              <a:avLst/>
            </a:prstGeom>
          </p:spPr>
          <p:txBody>
            <a:bodyPr anchor="t" rtlCol="false" tIns="0" lIns="0" bIns="0" rIns="0">
              <a:spAutoFit/>
            </a:bodyPr>
            <a:lstStyle/>
            <a:p>
              <a:pPr algn="l" marL="0" indent="0" lvl="0">
                <a:lnSpc>
                  <a:spcPts val="2799"/>
                </a:lnSpc>
              </a:pPr>
              <a:r>
                <a:rPr lang="en-US" b="true" sz="1999">
                  <a:solidFill>
                    <a:srgbClr val="FFFFFF"/>
                  </a:solidFill>
                  <a:latin typeface="Carlito Bold"/>
                  <a:ea typeface="Carlito Bold"/>
                  <a:cs typeface="Carlito Bold"/>
                  <a:sym typeface="Carlito Bold"/>
                </a:rPr>
                <a:t>psutil</a:t>
              </a:r>
              <a:r>
                <a:rPr lang="en-US" sz="1999">
                  <a:solidFill>
                    <a:srgbClr val="FFFFFF"/>
                  </a:solidFill>
                  <a:latin typeface="Carlito"/>
                  <a:ea typeface="Carlito"/>
                  <a:cs typeface="Carlito"/>
                  <a:sym typeface="Carlito"/>
                </a:rPr>
                <a:t> efficiently monitors system processes.</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F3460"/>
        </a:solidFill>
      </p:bgPr>
    </p:bg>
    <p:spTree>
      <p:nvGrpSpPr>
        <p:cNvPr id="1" name=""/>
        <p:cNvGrpSpPr/>
        <p:nvPr/>
      </p:nvGrpSpPr>
      <p:grpSpPr>
        <a:xfrm>
          <a:off x="0" y="0"/>
          <a:ext cx="0" cy="0"/>
          <a:chOff x="0" y="0"/>
          <a:chExt cx="0" cy="0"/>
        </a:xfrm>
      </p:grpSpPr>
      <p:grpSp>
        <p:nvGrpSpPr>
          <p:cNvPr name="Group 2" id="2"/>
          <p:cNvGrpSpPr/>
          <p:nvPr/>
        </p:nvGrpSpPr>
        <p:grpSpPr>
          <a:xfrm rot="0">
            <a:off x="7553325" y="0"/>
            <a:ext cx="10734675" cy="6934200"/>
            <a:chOff x="0" y="0"/>
            <a:chExt cx="3111331" cy="2009804"/>
          </a:xfrm>
        </p:grpSpPr>
        <p:sp>
          <p:nvSpPr>
            <p:cNvPr name="Freeform 3" id="3"/>
            <p:cNvSpPr/>
            <p:nvPr/>
          </p:nvSpPr>
          <p:spPr>
            <a:xfrm flipH="false" flipV="false" rot="0">
              <a:off x="0" y="0"/>
              <a:ext cx="3111331" cy="2009804"/>
            </a:xfrm>
            <a:custGeom>
              <a:avLst/>
              <a:gdLst/>
              <a:ahLst/>
              <a:cxnLst/>
              <a:rect r="r" b="b" t="t" l="l"/>
              <a:pathLst>
                <a:path h="2009804" w="3111331">
                  <a:moveTo>
                    <a:pt x="0" y="0"/>
                  </a:moveTo>
                  <a:lnTo>
                    <a:pt x="3111331" y="0"/>
                  </a:lnTo>
                  <a:lnTo>
                    <a:pt x="3111331" y="2009804"/>
                  </a:lnTo>
                  <a:lnTo>
                    <a:pt x="0" y="2009804"/>
                  </a:lnTo>
                  <a:close/>
                </a:path>
              </a:pathLst>
            </a:custGeom>
            <a:blipFill>
              <a:blip r:embed="rId2"/>
              <a:stretch>
                <a:fillRect l="-74" t="0" r="-74" b="0"/>
              </a:stretch>
            </a:blipFill>
          </p:spPr>
        </p:sp>
      </p:grpSp>
      <p:sp>
        <p:nvSpPr>
          <p:cNvPr name="TextBox 4" id="4"/>
          <p:cNvSpPr txBox="true"/>
          <p:nvPr/>
        </p:nvSpPr>
        <p:spPr>
          <a:xfrm rot="0">
            <a:off x="666750" y="723900"/>
            <a:ext cx="4619625" cy="2985772"/>
          </a:xfrm>
          <a:prstGeom prst="rect">
            <a:avLst/>
          </a:prstGeom>
        </p:spPr>
        <p:txBody>
          <a:bodyPr anchor="t" rtlCol="false" tIns="0" lIns="0" bIns="0" rIns="0">
            <a:spAutoFit/>
          </a:bodyPr>
          <a:lstStyle/>
          <a:p>
            <a:pPr algn="l" marL="0" indent="0" lvl="0">
              <a:lnSpc>
                <a:spcPts val="7840"/>
              </a:lnSpc>
              <a:spcBef>
                <a:spcPct val="0"/>
              </a:spcBef>
            </a:pPr>
            <a:r>
              <a:rPr lang="en-US" sz="7000">
                <a:solidFill>
                  <a:srgbClr val="FFFFFF"/>
                </a:solidFill>
                <a:latin typeface="Radley"/>
                <a:ea typeface="Radley"/>
                <a:cs typeface="Radley"/>
                <a:sym typeface="Radley"/>
              </a:rPr>
              <a:t>Project Output and Results</a:t>
            </a:r>
          </a:p>
        </p:txBody>
      </p:sp>
      <p:grpSp>
        <p:nvGrpSpPr>
          <p:cNvPr name="Group 5" id="5"/>
          <p:cNvGrpSpPr/>
          <p:nvPr/>
        </p:nvGrpSpPr>
        <p:grpSpPr>
          <a:xfrm rot="0">
            <a:off x="7553325" y="7829550"/>
            <a:ext cx="5753100" cy="895350"/>
            <a:chOff x="0" y="0"/>
            <a:chExt cx="7670800" cy="1193800"/>
          </a:xfrm>
        </p:grpSpPr>
        <p:sp>
          <p:nvSpPr>
            <p:cNvPr name="TextBox 6" id="6"/>
            <p:cNvSpPr txBox="true"/>
            <p:nvPr/>
          </p:nvSpPr>
          <p:spPr>
            <a:xfrm rot="0">
              <a:off x="0" y="-57150"/>
              <a:ext cx="7670800" cy="622724"/>
            </a:xfrm>
            <a:prstGeom prst="rect">
              <a:avLst/>
            </a:prstGeom>
          </p:spPr>
          <p:txBody>
            <a:bodyPr anchor="t" rtlCol="false" tIns="0" lIns="0" bIns="0" rIns="0">
              <a:spAutoFit/>
            </a:bodyPr>
            <a:lstStyle/>
            <a:p>
              <a:pPr algn="l" marL="0" indent="0" lvl="0">
                <a:lnSpc>
                  <a:spcPts val="3919"/>
                </a:lnSpc>
                <a:spcBef>
                  <a:spcPct val="0"/>
                </a:spcBef>
              </a:pPr>
              <a:r>
                <a:rPr lang="en-US" sz="2799">
                  <a:solidFill>
                    <a:srgbClr val="FFFFFF"/>
                  </a:solidFill>
                  <a:latin typeface="Radley"/>
                  <a:ea typeface="Radley"/>
                  <a:cs typeface="Radley"/>
                  <a:sym typeface="Radley"/>
                </a:rPr>
                <a:t>Security Alerts</a:t>
              </a:r>
            </a:p>
          </p:txBody>
        </p:sp>
        <p:sp>
          <p:nvSpPr>
            <p:cNvPr name="TextBox 7" id="7"/>
            <p:cNvSpPr txBox="true"/>
            <p:nvPr/>
          </p:nvSpPr>
          <p:spPr>
            <a:xfrm rot="0">
              <a:off x="0" y="759460"/>
              <a:ext cx="7670800" cy="434340"/>
            </a:xfrm>
            <a:prstGeom prst="rect">
              <a:avLst/>
            </a:prstGeom>
          </p:spPr>
          <p:txBody>
            <a:bodyPr anchor="t" rtlCol="false" tIns="0" lIns="0" bIns="0" rIns="0">
              <a:spAutoFit/>
            </a:bodyPr>
            <a:lstStyle/>
            <a:p>
              <a:pPr algn="l" marL="0" indent="0" lvl="0">
                <a:lnSpc>
                  <a:spcPts val="2520"/>
                </a:lnSpc>
              </a:pPr>
              <a:r>
                <a:rPr lang="en-US" sz="1800">
                  <a:solidFill>
                    <a:srgbClr val="FFFFFF"/>
                  </a:solidFill>
                  <a:latin typeface="Carlito"/>
                  <a:ea typeface="Carlito"/>
                  <a:cs typeface="Carlito"/>
                  <a:sym typeface="Carlito"/>
                </a:rPr>
                <a:t>Alerts notify users of detected suspicious processes.</a:t>
              </a:r>
            </a:p>
          </p:txBody>
        </p:sp>
      </p:grpSp>
      <p:grpSp>
        <p:nvGrpSpPr>
          <p:cNvPr name="Group 8" id="8"/>
          <p:cNvGrpSpPr/>
          <p:nvPr/>
        </p:nvGrpSpPr>
        <p:grpSpPr>
          <a:xfrm rot="0">
            <a:off x="666750" y="9184102"/>
            <a:ext cx="2171730" cy="2205796"/>
            <a:chOff x="0" y="0"/>
            <a:chExt cx="812800" cy="825500"/>
          </a:xfrm>
        </p:grpSpPr>
        <p:sp>
          <p:nvSpPr>
            <p:cNvPr name="Freeform 9" id="9"/>
            <p:cNvSpPr/>
            <p:nvPr/>
          </p:nvSpPr>
          <p:spPr>
            <a:xfrm flipH="false" flipV="false" rot="0">
              <a:off x="1270" y="0"/>
              <a:ext cx="810260" cy="822960"/>
            </a:xfrm>
            <a:custGeom>
              <a:avLst/>
              <a:gdLst/>
              <a:ahLst/>
              <a:cxnLst/>
              <a:rect r="r" b="b" t="t" l="l"/>
              <a:pathLst>
                <a:path h="822960" w="810260">
                  <a:moveTo>
                    <a:pt x="405130" y="0"/>
                  </a:moveTo>
                  <a:lnTo>
                    <a:pt x="450850" y="151130"/>
                  </a:lnTo>
                  <a:lnTo>
                    <a:pt x="546100" y="25400"/>
                  </a:lnTo>
                  <a:lnTo>
                    <a:pt x="537210" y="181610"/>
                  </a:lnTo>
                  <a:lnTo>
                    <a:pt x="669290" y="96520"/>
                  </a:lnTo>
                  <a:lnTo>
                    <a:pt x="608330" y="241300"/>
                  </a:lnTo>
                  <a:lnTo>
                    <a:pt x="760730" y="205740"/>
                  </a:lnTo>
                  <a:lnTo>
                    <a:pt x="654050" y="321310"/>
                  </a:lnTo>
                  <a:lnTo>
                    <a:pt x="810260" y="340360"/>
                  </a:lnTo>
                  <a:lnTo>
                    <a:pt x="669290" y="411480"/>
                  </a:lnTo>
                  <a:lnTo>
                    <a:pt x="810260" y="482600"/>
                  </a:lnTo>
                  <a:lnTo>
                    <a:pt x="654050" y="501650"/>
                  </a:lnTo>
                  <a:lnTo>
                    <a:pt x="760730" y="617220"/>
                  </a:lnTo>
                  <a:lnTo>
                    <a:pt x="608330" y="581660"/>
                  </a:lnTo>
                  <a:lnTo>
                    <a:pt x="669290" y="726440"/>
                  </a:lnTo>
                  <a:lnTo>
                    <a:pt x="537210" y="640080"/>
                  </a:lnTo>
                  <a:lnTo>
                    <a:pt x="546100" y="797560"/>
                  </a:lnTo>
                  <a:lnTo>
                    <a:pt x="450850" y="671830"/>
                  </a:lnTo>
                  <a:lnTo>
                    <a:pt x="405130" y="822960"/>
                  </a:lnTo>
                  <a:lnTo>
                    <a:pt x="359410" y="671830"/>
                  </a:lnTo>
                  <a:lnTo>
                    <a:pt x="264160" y="797560"/>
                  </a:lnTo>
                  <a:lnTo>
                    <a:pt x="273050" y="640080"/>
                  </a:lnTo>
                  <a:lnTo>
                    <a:pt x="140970" y="726440"/>
                  </a:lnTo>
                  <a:lnTo>
                    <a:pt x="201930" y="581660"/>
                  </a:lnTo>
                  <a:lnTo>
                    <a:pt x="49530" y="617220"/>
                  </a:lnTo>
                  <a:lnTo>
                    <a:pt x="156210" y="501650"/>
                  </a:lnTo>
                  <a:lnTo>
                    <a:pt x="0" y="482600"/>
                  </a:lnTo>
                  <a:lnTo>
                    <a:pt x="140970" y="411480"/>
                  </a:lnTo>
                  <a:lnTo>
                    <a:pt x="0" y="340360"/>
                  </a:lnTo>
                  <a:lnTo>
                    <a:pt x="156210" y="321310"/>
                  </a:lnTo>
                  <a:lnTo>
                    <a:pt x="49530" y="205740"/>
                  </a:lnTo>
                  <a:lnTo>
                    <a:pt x="201930" y="241300"/>
                  </a:lnTo>
                  <a:lnTo>
                    <a:pt x="140970" y="96520"/>
                  </a:lnTo>
                  <a:lnTo>
                    <a:pt x="273050" y="181610"/>
                  </a:lnTo>
                  <a:lnTo>
                    <a:pt x="264160" y="25400"/>
                  </a:lnTo>
                  <a:lnTo>
                    <a:pt x="359410" y="151130"/>
                  </a:lnTo>
                  <a:close/>
                </a:path>
              </a:pathLst>
            </a:custGeom>
            <a:solidFill>
              <a:srgbClr val="FFFFFF"/>
            </a:solidFill>
          </p:spPr>
        </p:sp>
        <p:sp>
          <p:nvSpPr>
            <p:cNvPr name="TextBox 10" id="10"/>
            <p:cNvSpPr txBox="true"/>
            <p:nvPr/>
          </p:nvSpPr>
          <p:spPr>
            <a:xfrm>
              <a:off x="141746" y="112576"/>
              <a:ext cx="529308" cy="559367"/>
            </a:xfrm>
            <a:prstGeom prst="rect">
              <a:avLst/>
            </a:prstGeom>
          </p:spPr>
          <p:txBody>
            <a:bodyPr anchor="ctr" rtlCol="false" tIns="50800" lIns="50800" bIns="50800" rIns="50800"/>
            <a:lstStyle/>
            <a:p>
              <a:pPr algn="ctr" marL="0" indent="0" lvl="0">
                <a:lnSpc>
                  <a:spcPts val="3359"/>
                </a:lnSpc>
                <a:spcBef>
                  <a:spcPct val="0"/>
                </a:spcBef>
              </a:pP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53354A"/>
        </a:solidFill>
      </p:bgPr>
    </p:bg>
    <p:spTree>
      <p:nvGrpSpPr>
        <p:cNvPr id="1" name=""/>
        <p:cNvGrpSpPr/>
        <p:nvPr/>
      </p:nvGrpSpPr>
      <p:grpSpPr>
        <a:xfrm>
          <a:off x="0" y="0"/>
          <a:ext cx="0" cy="0"/>
          <a:chOff x="0" y="0"/>
          <a:chExt cx="0" cy="0"/>
        </a:xfrm>
      </p:grpSpPr>
      <p:grpSp>
        <p:nvGrpSpPr>
          <p:cNvPr name="Group 2" id="2"/>
          <p:cNvGrpSpPr/>
          <p:nvPr/>
        </p:nvGrpSpPr>
        <p:grpSpPr>
          <a:xfrm rot="0">
            <a:off x="10734675" y="0"/>
            <a:ext cx="7553325" cy="6934200"/>
            <a:chOff x="0" y="0"/>
            <a:chExt cx="2442972" cy="2242728"/>
          </a:xfrm>
        </p:grpSpPr>
        <p:sp>
          <p:nvSpPr>
            <p:cNvPr name="Freeform 3" id="3"/>
            <p:cNvSpPr/>
            <p:nvPr/>
          </p:nvSpPr>
          <p:spPr>
            <a:xfrm flipH="false" flipV="false" rot="0">
              <a:off x="0" y="0"/>
              <a:ext cx="2442972" cy="2242728"/>
            </a:xfrm>
            <a:custGeom>
              <a:avLst/>
              <a:gdLst/>
              <a:ahLst/>
              <a:cxnLst/>
              <a:rect r="r" b="b" t="t" l="l"/>
              <a:pathLst>
                <a:path h="2242728" w="2442972">
                  <a:moveTo>
                    <a:pt x="0" y="0"/>
                  </a:moveTo>
                  <a:lnTo>
                    <a:pt x="2442972" y="0"/>
                  </a:lnTo>
                  <a:lnTo>
                    <a:pt x="2442972" y="2242728"/>
                  </a:lnTo>
                  <a:lnTo>
                    <a:pt x="0" y="2242728"/>
                  </a:lnTo>
                  <a:close/>
                </a:path>
              </a:pathLst>
            </a:custGeom>
            <a:blipFill>
              <a:blip r:embed="rId2"/>
              <a:stretch>
                <a:fillRect l="-234" t="0" r="-234" b="0"/>
              </a:stretch>
            </a:blipFill>
          </p:spPr>
        </p:sp>
      </p:grpSp>
      <p:grpSp>
        <p:nvGrpSpPr>
          <p:cNvPr name="Group 4" id="4"/>
          <p:cNvGrpSpPr/>
          <p:nvPr/>
        </p:nvGrpSpPr>
        <p:grpSpPr>
          <a:xfrm rot="0">
            <a:off x="0" y="5143500"/>
            <a:ext cx="9296400" cy="5143500"/>
            <a:chOff x="0" y="0"/>
            <a:chExt cx="3882322" cy="2148006"/>
          </a:xfrm>
        </p:grpSpPr>
        <p:sp>
          <p:nvSpPr>
            <p:cNvPr name="Freeform 5" id="5"/>
            <p:cNvSpPr/>
            <p:nvPr/>
          </p:nvSpPr>
          <p:spPr>
            <a:xfrm flipH="false" flipV="false" rot="0">
              <a:off x="0" y="0"/>
              <a:ext cx="3882322" cy="2148006"/>
            </a:xfrm>
            <a:custGeom>
              <a:avLst/>
              <a:gdLst/>
              <a:ahLst/>
              <a:cxnLst/>
              <a:rect r="r" b="b" t="t" l="l"/>
              <a:pathLst>
                <a:path h="2148006" w="3882322">
                  <a:moveTo>
                    <a:pt x="0" y="0"/>
                  </a:moveTo>
                  <a:lnTo>
                    <a:pt x="3882322" y="0"/>
                  </a:lnTo>
                  <a:lnTo>
                    <a:pt x="3882322" y="2148006"/>
                  </a:lnTo>
                  <a:lnTo>
                    <a:pt x="0" y="2148006"/>
                  </a:lnTo>
                  <a:close/>
                </a:path>
              </a:pathLst>
            </a:custGeom>
            <a:blipFill>
              <a:blip r:embed="rId3"/>
              <a:stretch>
                <a:fillRect l="-527" t="0" r="-527" b="0"/>
              </a:stretch>
            </a:blipFill>
          </p:spPr>
        </p:sp>
      </p:grpSp>
      <p:grpSp>
        <p:nvGrpSpPr>
          <p:cNvPr name="Group 6" id="6"/>
          <p:cNvGrpSpPr/>
          <p:nvPr/>
        </p:nvGrpSpPr>
        <p:grpSpPr>
          <a:xfrm rot="0">
            <a:off x="666750" y="666750"/>
            <a:ext cx="8629650" cy="2719075"/>
            <a:chOff x="0" y="0"/>
            <a:chExt cx="11506200" cy="3625433"/>
          </a:xfrm>
        </p:grpSpPr>
        <p:sp>
          <p:nvSpPr>
            <p:cNvPr name="TextBox 7" id="7"/>
            <p:cNvSpPr txBox="true"/>
            <p:nvPr/>
          </p:nvSpPr>
          <p:spPr>
            <a:xfrm rot="0">
              <a:off x="0" y="57150"/>
              <a:ext cx="11506200" cy="1358479"/>
            </a:xfrm>
            <a:prstGeom prst="rect">
              <a:avLst/>
            </a:prstGeom>
          </p:spPr>
          <p:txBody>
            <a:bodyPr anchor="t" rtlCol="false" tIns="0" lIns="0" bIns="0" rIns="0">
              <a:spAutoFit/>
            </a:bodyPr>
            <a:lstStyle/>
            <a:p>
              <a:pPr algn="l" marL="0" indent="0" lvl="0">
                <a:lnSpc>
                  <a:spcPts val="7840"/>
                </a:lnSpc>
                <a:spcBef>
                  <a:spcPct val="0"/>
                </a:spcBef>
              </a:pPr>
              <a:r>
                <a:rPr lang="en-US" sz="7000">
                  <a:solidFill>
                    <a:srgbClr val="FFFFFF"/>
                  </a:solidFill>
                  <a:latin typeface="Radley"/>
                  <a:ea typeface="Radley"/>
                  <a:cs typeface="Radley"/>
                  <a:sym typeface="Radley"/>
                </a:rPr>
                <a:t>Conclusion</a:t>
              </a:r>
            </a:p>
          </p:txBody>
        </p:sp>
        <p:sp>
          <p:nvSpPr>
            <p:cNvPr name="TextBox 8" id="8"/>
            <p:cNvSpPr txBox="true"/>
            <p:nvPr/>
          </p:nvSpPr>
          <p:spPr>
            <a:xfrm rot="0">
              <a:off x="0" y="2330456"/>
              <a:ext cx="11506200" cy="622724"/>
            </a:xfrm>
            <a:prstGeom prst="rect">
              <a:avLst/>
            </a:prstGeom>
          </p:spPr>
          <p:txBody>
            <a:bodyPr anchor="t" rtlCol="false" tIns="0" lIns="0" bIns="0" rIns="0">
              <a:spAutoFit/>
            </a:bodyPr>
            <a:lstStyle/>
            <a:p>
              <a:pPr algn="l" marL="0" indent="0" lvl="0">
                <a:lnSpc>
                  <a:spcPts val="3919"/>
                </a:lnSpc>
                <a:spcBef>
                  <a:spcPct val="0"/>
                </a:spcBef>
              </a:pPr>
              <a:r>
                <a:rPr lang="en-US" sz="2799">
                  <a:solidFill>
                    <a:srgbClr val="FFFFFF"/>
                  </a:solidFill>
                  <a:latin typeface="Radley"/>
                  <a:ea typeface="Radley"/>
                  <a:cs typeface="Radley"/>
                  <a:sym typeface="Radley"/>
                </a:rPr>
                <a:t>Ethical Learning</a:t>
              </a:r>
            </a:p>
          </p:txBody>
        </p:sp>
        <p:sp>
          <p:nvSpPr>
            <p:cNvPr name="TextBox 9" id="9"/>
            <p:cNvSpPr txBox="true"/>
            <p:nvPr/>
          </p:nvSpPr>
          <p:spPr>
            <a:xfrm rot="0">
              <a:off x="0" y="3137541"/>
              <a:ext cx="11506200" cy="487892"/>
            </a:xfrm>
            <a:prstGeom prst="rect">
              <a:avLst/>
            </a:prstGeom>
          </p:spPr>
          <p:txBody>
            <a:bodyPr anchor="t" rtlCol="false" tIns="0" lIns="0" bIns="0" rIns="0">
              <a:spAutoFit/>
            </a:bodyPr>
            <a:lstStyle/>
            <a:p>
              <a:pPr algn="l" marL="0" indent="0" lvl="0">
                <a:lnSpc>
                  <a:spcPts val="2799"/>
                </a:lnSpc>
              </a:pPr>
              <a:r>
                <a:rPr lang="en-US" sz="1999">
                  <a:solidFill>
                    <a:srgbClr val="FFFFFF"/>
                  </a:solidFill>
                  <a:latin typeface="Carlito"/>
                  <a:ea typeface="Carlito"/>
                  <a:cs typeface="Carlito"/>
                  <a:sym typeface="Carlito"/>
                </a:rPr>
                <a:t>Promotes understanding of keylogger detection techniques.</a:t>
              </a:r>
            </a:p>
          </p:txBody>
        </p:sp>
      </p:grpSp>
      <p:grpSp>
        <p:nvGrpSpPr>
          <p:cNvPr name="Group 10" id="10"/>
          <p:cNvGrpSpPr/>
          <p:nvPr/>
        </p:nvGrpSpPr>
        <p:grpSpPr>
          <a:xfrm rot="0">
            <a:off x="10734675" y="7829550"/>
            <a:ext cx="5753100" cy="1280795"/>
            <a:chOff x="0" y="0"/>
            <a:chExt cx="7670800" cy="1707727"/>
          </a:xfrm>
        </p:grpSpPr>
        <p:sp>
          <p:nvSpPr>
            <p:cNvPr name="TextBox 11" id="11"/>
            <p:cNvSpPr txBox="true"/>
            <p:nvPr/>
          </p:nvSpPr>
          <p:spPr>
            <a:xfrm rot="0">
              <a:off x="0" y="-57150"/>
              <a:ext cx="7670800" cy="622724"/>
            </a:xfrm>
            <a:prstGeom prst="rect">
              <a:avLst/>
            </a:prstGeom>
          </p:spPr>
          <p:txBody>
            <a:bodyPr anchor="t" rtlCol="false" tIns="0" lIns="0" bIns="0" rIns="0">
              <a:spAutoFit/>
            </a:bodyPr>
            <a:lstStyle/>
            <a:p>
              <a:pPr algn="l" marL="0" indent="0" lvl="0">
                <a:lnSpc>
                  <a:spcPts val="3919"/>
                </a:lnSpc>
                <a:spcBef>
                  <a:spcPct val="0"/>
                </a:spcBef>
              </a:pPr>
              <a:r>
                <a:rPr lang="en-US" sz="2799">
                  <a:solidFill>
                    <a:srgbClr val="FFFFFF"/>
                  </a:solidFill>
                  <a:latin typeface="Radley"/>
                  <a:ea typeface="Radley"/>
                  <a:cs typeface="Radley"/>
                  <a:sym typeface="Radley"/>
                </a:rPr>
                <a:t>Future Enhancements</a:t>
              </a:r>
            </a:p>
          </p:txBody>
        </p:sp>
        <p:sp>
          <p:nvSpPr>
            <p:cNvPr name="TextBox 12" id="12"/>
            <p:cNvSpPr txBox="true"/>
            <p:nvPr/>
          </p:nvSpPr>
          <p:spPr>
            <a:xfrm rot="0">
              <a:off x="0" y="749935"/>
              <a:ext cx="7670800" cy="957792"/>
            </a:xfrm>
            <a:prstGeom prst="rect">
              <a:avLst/>
            </a:prstGeom>
          </p:spPr>
          <p:txBody>
            <a:bodyPr anchor="t" rtlCol="false" tIns="0" lIns="0" bIns="0" rIns="0">
              <a:spAutoFit/>
            </a:bodyPr>
            <a:lstStyle/>
            <a:p>
              <a:pPr algn="l" marL="0" indent="0" lvl="0">
                <a:lnSpc>
                  <a:spcPts val="2799"/>
                </a:lnSpc>
              </a:pPr>
              <a:r>
                <a:rPr lang="en-US" sz="1999">
                  <a:solidFill>
                    <a:srgbClr val="FFFFFF"/>
                  </a:solidFill>
                  <a:latin typeface="Carlito"/>
                  <a:ea typeface="Carlito"/>
                  <a:cs typeface="Carlito"/>
                  <a:sym typeface="Carlito"/>
                </a:rPr>
                <a:t>Integrates advanced machine learning methodologies for detection.</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description>Presentation - Keylogger Detection Tool</dc:description>
  <dc:identifier>DAG9ncD2hxo</dc:identifier>
  <dcterms:modified xsi:type="dcterms:W3CDTF">2011-08-01T06:04:30Z</dcterms:modified>
  <cp:revision>1</cp:revision>
  <dc:title>Presentation - Keylogger Detection Tool</dc:title>
</cp:coreProperties>
</file>